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Relationships xmlns="http://schemas.openxmlformats.org/package/2006/relationships"><Relationship Id="rId1" Type="http://schemas.openxmlformats.org/officeDocument/2006/relationships/package" Target="../embeddings/chart1.xlsx"/></Relationships>
</file>

<file path=ppt/charts/_rels/chart2.xml.rels><?xml version='1.0' encoding='utf-8'?>
<Relationships xmlns="http://schemas.openxmlformats.org/package/2006/relationships"><Relationship Id="rId1" Type="http://schemas.openxmlformats.org/officeDocument/2006/relationships/package" Target="../embeddings/chart2.xlsx"/></Relationships>
</file>

<file path=ppt/charts/_rels/chart3.xml.rels><?xml version='1.0' encoding='utf-8'?>
<Relationships xmlns="http://schemas.openxmlformats.org/package/2006/relationships"><Relationship Id="rId1" Type="http://schemas.openxmlformats.org/officeDocument/2006/relationships/package" Target="../embeddings/chart3.xlsx"/></Relationships>
</file>

<file path=ppt/charts/chart1.xml><?xml version="1.0" encoding="utf-8"?>
<c:chartSpace xmlns:c="http://schemas.openxmlformats.org/drawingml/2006/chart">
  <c:date1904 val="0"/>
  <c:lang val="en-US"/>
  <c:chart>
    <c:title>
      <c:tx>
        <c:rich>
          <a:bodyPr xmlns:a="http://schemas.openxmlformats.org/drawingml/2006/main"/>
          <a:lstStyle xmlns:a="http://schemas.openxmlformats.org/drawingml/2006/main"/>
          <a:p xmlns:a="http://schemas.openxmlformats.org/drawingml/2006/main">
            <a:r>
              <a:rPr lang="en-US" sz="1700">
                <a:latin typeface="Aptos"/>
              </a:rPr>
              <a:t>Loss</a:t>
            </a:r>
          </a:p>
        </c:rich>
      </c:tx>
      <c:overlay val="0"/>
    </c:title>
    <c:plotArea>
      <c:layout/>
      <c:lineChart>
        <c:grouping val="standard"/>
        <c:varyColors val="0"/>
        <c:ser>
          <c:idx val="0"/>
          <c:order val="0"/>
          <c:tx>
            <c:strRef>
              <c:f>Data!$B$1</c:f>
              <c:strCache>
                <c:ptCount val="1"/>
                <c:pt idx="0">
                  <c:v>Fold 1 train</c:v>
                </c:pt>
              </c:strCache>
            </c:strRef>
          </c:tx>
          <c:spPr>
            <a:ln xmlns:a="http://schemas.openxmlformats.org/drawingml/2006/main" w="25400">
              <a:solidFill>
                <a:srgbClr val="137F82"/>
              </a:solidFill>
            </a:ln>
          </c:spPr>
          <c:marker>
            <c:symbol val="none"/>
          </c:marker>
          <c:cat>
            <c:strRef>
              <c:f>Data!$A$2:$A$10</c:f>
              <c:strCache>
                <c:ptCount val="9"/>
                <c:pt idx="0">
                  <c:v>1</c:v>
                </c:pt>
                <c:pt idx="1">
                  <c:v>2</c:v>
                </c:pt>
                <c:pt idx="2">
                  <c:v>3</c:v>
                </c:pt>
                <c:pt idx="3">
                  <c:v>4</c:v>
                </c:pt>
                <c:pt idx="4">
                  <c:v>5</c:v>
                </c:pt>
                <c:pt idx="5">
                  <c:v>6</c:v>
                </c:pt>
                <c:pt idx="6">
                  <c:v>7</c:v>
                </c:pt>
                <c:pt idx="7">
                  <c:v>8</c:v>
                </c:pt>
                <c:pt idx="8">
                  <c:v>9</c:v>
                </c:pt>
              </c:strCache>
            </c:strRef>
          </c:cat>
          <c:val>
            <c:numRef>
              <c:f>Data!$B$2:$B$10</c:f>
              <c:numCache>
                <c:formatCode>General</c:formatCode>
                <c:ptCount val="9"/>
                <c:pt idx="0">
                  <c:v>1.382480564771914</c:v>
                </c:pt>
                <c:pt idx="1">
                  <c:v>0.7575457992506962</c:v>
                </c:pt>
                <c:pt idx="2">
                  <c:v>0.42751046489266786</c:v>
                </c:pt>
                <c:pt idx="3">
                  <c:v>0.3058519737393248</c:v>
                </c:pt>
                <c:pt idx="4">
                  <c:v>0.27983424160994735</c:v>
                </c:pt>
                <c:pt idx="5">
                  <c:v>0.2704531791163426</c:v>
                </c:pt>
                <c:pt idx="6">
                  <c:v>0.26606226364771524</c:v>
                </c:pt>
                <c:pt idx="7">
                  <c:v>0.26381652694122465</c:v>
                </c:pt>
                <c:pt idx="8">
                  <c:v>0.26248025391616076</c:v>
                </c:pt>
              </c:numCache>
            </c:numRef>
          </c:val>
          <c:smooth val="0"/>
        </c:ser>
        <c:ser>
          <c:idx val="1"/>
          <c:order val="1"/>
          <c:tx>
            <c:strRef>
              <c:f>Data!$C$1</c:f>
              <c:strCache>
                <c:ptCount val="1"/>
                <c:pt idx="0">
                  <c:v>Fold 1 validation</c:v>
                </c:pt>
              </c:strCache>
            </c:strRef>
          </c:tx>
          <c:spPr>
            <a:ln xmlns:a="http://schemas.openxmlformats.org/drawingml/2006/main" w="25400">
              <a:solidFill>
                <a:srgbClr val="137F82"/>
              </a:solidFill>
              <a:prstDash val="dash"/>
            </a:ln>
          </c:spPr>
          <c:marker>
            <c:symbol val="none"/>
          </c:marker>
          <c:cat>
            <c:strRef>
              <c:f>Data!$A$2:$A$10</c:f>
              <c:strCache>
                <c:ptCount val="9"/>
                <c:pt idx="0">
                  <c:v>1</c:v>
                </c:pt>
                <c:pt idx="1">
                  <c:v>2</c:v>
                </c:pt>
                <c:pt idx="2">
                  <c:v>3</c:v>
                </c:pt>
                <c:pt idx="3">
                  <c:v>4</c:v>
                </c:pt>
                <c:pt idx="4">
                  <c:v>5</c:v>
                </c:pt>
                <c:pt idx="5">
                  <c:v>6</c:v>
                </c:pt>
                <c:pt idx="6">
                  <c:v>7</c:v>
                </c:pt>
                <c:pt idx="7">
                  <c:v>8</c:v>
                </c:pt>
                <c:pt idx="8">
                  <c:v>9</c:v>
                </c:pt>
              </c:strCache>
            </c:strRef>
          </c:cat>
          <c:val>
            <c:numRef>
              <c:f>Data!$C$2:$C$10</c:f>
              <c:numCache>
                <c:formatCode>General</c:formatCode>
                <c:ptCount val="9"/>
                <c:pt idx="0">
                  <c:v>1.0488079122594884</c:v>
                </c:pt>
                <c:pt idx="1">
                  <c:v>0.813854693077706</c:v>
                </c:pt>
                <c:pt idx="2">
                  <c:v>0.6899274925927859</c:v>
                </c:pt>
                <c:pt idx="3">
                  <c:v>0.714674297753755</c:v>
                </c:pt>
                <c:pt idx="4">
                  <c:v>0.7200166294166633</c:v>
                </c:pt>
                <c:pt idx="5">
                  <c:v>0.7311445670084911</c:v>
                </c:pt>
                <c:pt idx="6">
                  <c:v>0.7473660821313257</c:v>
                </c:pt>
                <c:pt idx="7">
                  <c:v>0.7459811483417546</c:v>
                </c:pt>
                <c:pt idx="8">
                  <c:v>0.7539963193841883</c:v>
                </c:pt>
              </c:numCache>
            </c:numRef>
          </c:val>
          <c:smooth val="0"/>
        </c:ser>
        <c:ser>
          <c:idx val="2"/>
          <c:order val="2"/>
          <c:tx>
            <c:strRef>
              <c:f>Data!$D$1</c:f>
              <c:strCache>
                <c:ptCount val="1"/>
                <c:pt idx="0">
                  <c:v>Fold 2 train</c:v>
                </c:pt>
              </c:strCache>
            </c:strRef>
          </c:tx>
          <c:spPr>
            <a:ln xmlns:a="http://schemas.openxmlformats.org/drawingml/2006/main" w="25400">
              <a:solidFill>
                <a:srgbClr val="A25524"/>
              </a:solidFill>
            </a:ln>
          </c:spPr>
          <c:marker>
            <c:symbol val="none"/>
          </c:marker>
          <c:cat>
            <c:strRef>
              <c:f>Data!$A$2:$A$9</c:f>
              <c:strCache>
                <c:ptCount val="8"/>
                <c:pt idx="0">
                  <c:v>1</c:v>
                </c:pt>
                <c:pt idx="1">
                  <c:v>2</c:v>
                </c:pt>
                <c:pt idx="2">
                  <c:v>3</c:v>
                </c:pt>
                <c:pt idx="3">
                  <c:v>4</c:v>
                </c:pt>
                <c:pt idx="4">
                  <c:v>5</c:v>
                </c:pt>
                <c:pt idx="5">
                  <c:v>6</c:v>
                </c:pt>
                <c:pt idx="6">
                  <c:v>7</c:v>
                </c:pt>
                <c:pt idx="7">
                  <c:v>8</c:v>
                </c:pt>
              </c:strCache>
            </c:strRef>
          </c:cat>
          <c:val>
            <c:numRef>
              <c:f>Data!$D$2:$D$9</c:f>
              <c:numCache>
                <c:formatCode>General</c:formatCode>
                <c:ptCount val="8"/>
                <c:pt idx="0">
                  <c:v>1.4622641561144873</c:v>
                </c:pt>
                <c:pt idx="1">
                  <c:v>0.7637695028668359</c:v>
                </c:pt>
                <c:pt idx="2">
                  <c:v>0.432008376462119</c:v>
                </c:pt>
                <c:pt idx="3">
                  <c:v>0.3073545182886578</c:v>
                </c:pt>
                <c:pt idx="4">
                  <c:v>0.27899654825528464</c:v>
                </c:pt>
                <c:pt idx="5">
                  <c:v>0.26986147914613995</c:v>
                </c:pt>
                <c:pt idx="6">
                  <c:v>0.26516186294101535</c:v>
                </c:pt>
                <c:pt idx="7">
                  <c:v>0.26312903358822776</c:v>
                </c:pt>
              </c:numCache>
            </c:numRef>
          </c:val>
          <c:smooth val="0"/>
        </c:ser>
        <c:ser>
          <c:idx val="3"/>
          <c:order val="3"/>
          <c:tx>
            <c:strRef>
              <c:f>Data!$E$1</c:f>
              <c:strCache>
                <c:ptCount val="1"/>
                <c:pt idx="0">
                  <c:v>Fold 2 validation</c:v>
                </c:pt>
              </c:strCache>
            </c:strRef>
          </c:tx>
          <c:spPr>
            <a:ln xmlns:a="http://schemas.openxmlformats.org/drawingml/2006/main" w="25400">
              <a:solidFill>
                <a:srgbClr val="A25524"/>
              </a:solidFill>
              <a:prstDash val="dash"/>
            </a:ln>
          </c:spPr>
          <c:marker>
            <c:symbol val="none"/>
          </c:marker>
          <c:cat>
            <c:strRef>
              <c:f>Data!$A$2:$A$9</c:f>
              <c:strCache>
                <c:ptCount val="8"/>
                <c:pt idx="0">
                  <c:v>1</c:v>
                </c:pt>
                <c:pt idx="1">
                  <c:v>2</c:v>
                </c:pt>
                <c:pt idx="2">
                  <c:v>3</c:v>
                </c:pt>
                <c:pt idx="3">
                  <c:v>4</c:v>
                </c:pt>
                <c:pt idx="4">
                  <c:v>5</c:v>
                </c:pt>
                <c:pt idx="5">
                  <c:v>6</c:v>
                </c:pt>
                <c:pt idx="6">
                  <c:v>7</c:v>
                </c:pt>
                <c:pt idx="7">
                  <c:v>8</c:v>
                </c:pt>
              </c:strCache>
            </c:strRef>
          </c:cat>
          <c:val>
            <c:numRef>
              <c:f>Data!$E$2:$E$9</c:f>
              <c:numCache>
                <c:formatCode>General</c:formatCode>
                <c:ptCount val="8"/>
                <c:pt idx="0">
                  <c:v>1.1289375784283593</c:v>
                </c:pt>
                <c:pt idx="1">
                  <c:v>0.9023417141323998</c:v>
                </c:pt>
                <c:pt idx="2">
                  <c:v>0.7534437718845549</c:v>
                </c:pt>
                <c:pt idx="3">
                  <c:v>0.7797005950836908</c:v>
                </c:pt>
                <c:pt idx="4">
                  <c:v>0.7545918447630746</c:v>
                </c:pt>
                <c:pt idx="5">
                  <c:v>0.8062079761141823</c:v>
                </c:pt>
                <c:pt idx="6">
                  <c:v>0.7770398589542934</c:v>
                </c:pt>
                <c:pt idx="7">
                  <c:v>0.7949594203631083</c:v>
                </c:pt>
              </c:numCache>
            </c:numRef>
          </c:val>
          <c:smooth val="0"/>
        </c:ser>
        <c:ser>
          <c:idx val="4"/>
          <c:order val="4"/>
          <c:tx>
            <c:strRef>
              <c:f>Data!$F$1</c:f>
              <c:strCache>
                <c:ptCount val="1"/>
                <c:pt idx="0">
                  <c:v>Fold 3 train</c:v>
                </c:pt>
              </c:strCache>
            </c:strRef>
          </c:tx>
          <c:spPr>
            <a:ln xmlns:a="http://schemas.openxmlformats.org/drawingml/2006/main" w="25400">
              <a:solidFill>
                <a:srgbClr val="65549D"/>
              </a:solidFill>
            </a:ln>
          </c:spPr>
          <c:marker>
            <c:symbol val="none"/>
          </c:marker>
          <c:cat>
            <c:strRef>
              <c:f>Data!$A$2:$A$7</c:f>
              <c:strCache>
                <c:ptCount val="6"/>
                <c:pt idx="0">
                  <c:v>1</c:v>
                </c:pt>
                <c:pt idx="1">
                  <c:v>2</c:v>
                </c:pt>
                <c:pt idx="2">
                  <c:v>3</c:v>
                </c:pt>
                <c:pt idx="3">
                  <c:v>4</c:v>
                </c:pt>
                <c:pt idx="4">
                  <c:v>5</c:v>
                </c:pt>
                <c:pt idx="5">
                  <c:v>6</c:v>
                </c:pt>
              </c:strCache>
            </c:strRef>
          </c:cat>
          <c:val>
            <c:numRef>
              <c:f>Data!$F$2:$F$7</c:f>
              <c:numCache>
                <c:formatCode>General</c:formatCode>
                <c:ptCount val="6"/>
                <c:pt idx="0">
                  <c:v>1.2798502374578404</c:v>
                </c:pt>
                <c:pt idx="1">
                  <c:v>0.6178375356727176</c:v>
                </c:pt>
                <c:pt idx="2">
                  <c:v>0.36613311458517006</c:v>
                </c:pt>
                <c:pt idx="3">
                  <c:v>0.2869855289106016</c:v>
                </c:pt>
                <c:pt idx="4">
                  <c:v>0.2724978371902748</c:v>
                </c:pt>
                <c:pt idx="5">
                  <c:v>0.2659406207225941</c:v>
                </c:pt>
              </c:numCache>
            </c:numRef>
          </c:val>
          <c:smooth val="0"/>
        </c:ser>
        <c:ser>
          <c:idx val="5"/>
          <c:order val="5"/>
          <c:tx>
            <c:strRef>
              <c:f>Data!$G$1</c:f>
              <c:strCache>
                <c:ptCount val="1"/>
                <c:pt idx="0">
                  <c:v>Fold 3 validation</c:v>
                </c:pt>
              </c:strCache>
            </c:strRef>
          </c:tx>
          <c:spPr>
            <a:ln xmlns:a="http://schemas.openxmlformats.org/drawingml/2006/main" w="25400">
              <a:solidFill>
                <a:srgbClr val="65549D"/>
              </a:solidFill>
              <a:prstDash val="dash"/>
            </a:ln>
          </c:spPr>
          <c:marker>
            <c:symbol val="none"/>
          </c:marker>
          <c:cat>
            <c:strRef>
              <c:f>Data!$A$2:$A$7</c:f>
              <c:strCache>
                <c:ptCount val="6"/>
                <c:pt idx="0">
                  <c:v>1</c:v>
                </c:pt>
                <c:pt idx="1">
                  <c:v>2</c:v>
                </c:pt>
                <c:pt idx="2">
                  <c:v>3</c:v>
                </c:pt>
                <c:pt idx="3">
                  <c:v>4</c:v>
                </c:pt>
                <c:pt idx="4">
                  <c:v>5</c:v>
                </c:pt>
                <c:pt idx="5">
                  <c:v>6</c:v>
                </c:pt>
              </c:strCache>
            </c:strRef>
          </c:cat>
          <c:val>
            <c:numRef>
              <c:f>Data!$G$2:$G$7</c:f>
              <c:numCache>
                <c:formatCode>General</c:formatCode>
                <c:ptCount val="6"/>
                <c:pt idx="0">
                  <c:v>1.3190047418228303</c:v>
                </c:pt>
                <c:pt idx="1">
                  <c:v>1.1656688420459478</c:v>
                </c:pt>
                <c:pt idx="2">
                  <c:v>1.070554747966805</c:v>
                </c:pt>
                <c:pt idx="3">
                  <c:v>1.0635325410149314</c:v>
                </c:pt>
                <c:pt idx="4">
                  <c:v>1.093325681638236</c:v>
                </c:pt>
                <c:pt idx="5">
                  <c:v>1.087220559216509</c:v>
                </c:pt>
              </c:numCache>
            </c:numRef>
          </c:val>
          <c:smooth val="0"/>
        </c:ser>
        <c:axId val="100"/>
        <c:axId val="200"/>
      </c:lineChart>
      <c:catAx>
        <c:axId val="100"/>
        <c:scaling>
          <c:orientation val="minMax"/>
        </c:scaling>
        <c:delete val="0"/>
        <c:axPos val="b"/>
        <c:title>
          <c:tx>
            <c:rich>
              <a:bodyPr xmlns:a="http://schemas.openxmlformats.org/drawingml/2006/main"/>
              <a:lstStyle xmlns:a="http://schemas.openxmlformats.org/drawingml/2006/main"/>
              <a:p xmlns:a="http://schemas.openxmlformats.org/drawingml/2006/main">
                <a:r>
                  <a:rPr lang="en-US" sz="1100">
                    <a:latin typeface="Aptos"/>
                  </a:rPr>
                  <a:t>Epoch</a:t>
                </a:r>
              </a:p>
            </c:rich>
          </c:tx>
          <c:overlay val="0"/>
        </c:title>
        <c:majorTickMark val="none"/>
        <c:minorTickMark val="none"/>
        <c:tickLblPos val="nextTo"/>
        <c:crossAx val="200"/>
        <c:crosses val="autoZero"/>
        <c:auto val="1"/>
        <c:lblAlgn val="ctr"/>
        <c:lblOffset val="100"/>
      </c:catAx>
      <c:valAx>
        <c:axId val="200"/>
        <c:scaling>
          <c:orientation val="minMax"/>
          <c:min val="0"/>
        </c:scaling>
        <c:delete val="0"/>
        <c:axPos val="l"/>
        <c:majorGridlines/>
        <c:title>
          <c:tx>
            <c:rich>
              <a:bodyPr xmlns:a="http://schemas.openxmlformats.org/drawingml/2006/main"/>
              <a:lstStyle xmlns:a="http://schemas.openxmlformats.org/drawingml/2006/main"/>
              <a:p xmlns:a="http://schemas.openxmlformats.org/drawingml/2006/main">
                <a:r>
                  <a:rPr lang="en-US" sz="1100">
                    <a:latin typeface="Aptos"/>
                  </a:rPr>
                  <a:t>Cross-entropy</a:t>
                </a:r>
              </a:p>
            </c:rich>
          </c:tx>
          <c:overlay val="0"/>
        </c:title>
        <c:numFmt formatCode="0.0" sourceLinked="0"/>
        <c:majorTickMark val="none"/>
        <c:minorTickMark val="none"/>
        <c:tickLblPos val="nextTo"/>
        <c:crossAx val="100"/>
        <c:crosses val="autoZero"/>
        <c:crossBetween val="between"/>
      </c:valAx>
    </c:plotArea>
    <c:legend>
      <c:legendPos val="b"/>
      <c:layout/>
      <c:overlay val="0"/>
    </c:legend>
    <c:plotVisOnly val="1"/>
    <c:dispBlanksAs val="gap"/>
  </c:chart>
  <c:txPr>
    <a:bodyPr xmlns:a="http://schemas.openxmlformats.org/drawingml/2006/main"/>
    <a:lstStyle xmlns:a="http://schemas.openxmlformats.org/drawingml/2006/main"/>
    <a:p xmlns:a="http://schemas.openxmlformats.org/drawingml/2006/main">
      <a:pPr>
        <a:defRPr sz="1100">
          <a:latin typeface="Aptos"/>
        </a:defRPr>
      </a:pPr>
    </a:p>
  </c:txPr>
  <c:externalData xmlns:r="http://schemas.openxmlformats.org/officeDocument/2006/relationships" r:id="rId1">
    <c:autoUpdate val="0"/>
  </c:externalData>
</c:chartSpace>
</file>

<file path=ppt/charts/chart2.xml><?xml version="1.0" encoding="utf-8"?>
<c:chartSpace xmlns:c="http://schemas.openxmlformats.org/drawingml/2006/chart">
  <c:date1904 val="0"/>
  <c:lang val="en-US"/>
  <c:chart>
    <c:title>
      <c:tx>
        <c:rich>
          <a:bodyPr xmlns:a="http://schemas.openxmlformats.org/drawingml/2006/main"/>
          <a:lstStyle xmlns:a="http://schemas.openxmlformats.org/drawingml/2006/main"/>
          <a:p xmlns:a="http://schemas.openxmlformats.org/drawingml/2006/main">
            <a:r>
              <a:rPr lang="en-US" sz="1700">
                <a:latin typeface="Aptos"/>
              </a:rPr>
              <a:t>Macro F1</a:t>
            </a:r>
          </a:p>
        </c:rich>
      </c:tx>
      <c:overlay val="0"/>
    </c:title>
    <c:plotArea>
      <c:layout/>
      <c:lineChart>
        <c:grouping val="standard"/>
        <c:varyColors val="0"/>
        <c:ser>
          <c:idx val="0"/>
          <c:order val="0"/>
          <c:tx>
            <c:strRef>
              <c:f>Data!$B$1</c:f>
              <c:strCache>
                <c:ptCount val="1"/>
                <c:pt idx="0">
                  <c:v>Fold 1 train</c:v>
                </c:pt>
              </c:strCache>
            </c:strRef>
          </c:tx>
          <c:spPr>
            <a:ln xmlns:a="http://schemas.openxmlformats.org/drawingml/2006/main" w="25400">
              <a:solidFill>
                <a:srgbClr val="137F82"/>
              </a:solidFill>
            </a:ln>
          </c:spPr>
          <c:marker>
            <c:symbol val="none"/>
          </c:marker>
          <c:cat>
            <c:strRef>
              <c:f>Data!$A$2:$A$10</c:f>
              <c:strCache>
                <c:ptCount val="9"/>
                <c:pt idx="0">
                  <c:v>1</c:v>
                </c:pt>
                <c:pt idx="1">
                  <c:v>2</c:v>
                </c:pt>
                <c:pt idx="2">
                  <c:v>3</c:v>
                </c:pt>
                <c:pt idx="3">
                  <c:v>4</c:v>
                </c:pt>
                <c:pt idx="4">
                  <c:v>5</c:v>
                </c:pt>
                <c:pt idx="5">
                  <c:v>6</c:v>
                </c:pt>
                <c:pt idx="6">
                  <c:v>7</c:v>
                </c:pt>
                <c:pt idx="7">
                  <c:v>8</c:v>
                </c:pt>
                <c:pt idx="8">
                  <c:v>9</c:v>
                </c:pt>
              </c:strCache>
            </c:strRef>
          </c:cat>
          <c:val>
            <c:numRef>
              <c:f>Data!$B$2:$B$10</c:f>
              <c:numCache>
                <c:formatCode>General</c:formatCode>
                <c:ptCount val="9"/>
                <c:pt idx="0">
                  <c:v>0.5840549940541075</c:v>
                </c:pt>
                <c:pt idx="1">
                  <c:v>0.865934148458441</c:v>
                </c:pt>
                <c:pt idx="2">
                  <c:v>0.9698133870382039</c:v>
                </c:pt>
                <c:pt idx="3">
                  <c:v>0.998519707774447</c:v>
                </c:pt>
                <c:pt idx="4">
                  <c:v>1.0</c:v>
                </c:pt>
                <c:pt idx="5">
                  <c:v>1.0</c:v>
                </c:pt>
                <c:pt idx="6">
                  <c:v>1.0</c:v>
                </c:pt>
                <c:pt idx="7">
                  <c:v>1.0</c:v>
                </c:pt>
                <c:pt idx="8">
                  <c:v>1.0</c:v>
                </c:pt>
              </c:numCache>
            </c:numRef>
          </c:val>
          <c:smooth val="0"/>
        </c:ser>
        <c:ser>
          <c:idx val="1"/>
          <c:order val="1"/>
          <c:tx>
            <c:strRef>
              <c:f>Data!$C$1</c:f>
              <c:strCache>
                <c:ptCount val="1"/>
                <c:pt idx="0">
                  <c:v>Fold 1 validation</c:v>
                </c:pt>
              </c:strCache>
            </c:strRef>
          </c:tx>
          <c:spPr>
            <a:ln xmlns:a="http://schemas.openxmlformats.org/drawingml/2006/main" w="25400">
              <a:solidFill>
                <a:srgbClr val="137F82"/>
              </a:solidFill>
              <a:prstDash val="dash"/>
            </a:ln>
          </c:spPr>
          <c:marker>
            <c:symbol val="none"/>
          </c:marker>
          <c:cat>
            <c:strRef>
              <c:f>Data!$A$2:$A$10</c:f>
              <c:strCache>
                <c:ptCount val="9"/>
                <c:pt idx="0">
                  <c:v>1</c:v>
                </c:pt>
                <c:pt idx="1">
                  <c:v>2</c:v>
                </c:pt>
                <c:pt idx="2">
                  <c:v>3</c:v>
                </c:pt>
                <c:pt idx="3">
                  <c:v>4</c:v>
                </c:pt>
                <c:pt idx="4">
                  <c:v>5</c:v>
                </c:pt>
                <c:pt idx="5">
                  <c:v>6</c:v>
                </c:pt>
                <c:pt idx="6">
                  <c:v>7</c:v>
                </c:pt>
                <c:pt idx="7">
                  <c:v>8</c:v>
                </c:pt>
                <c:pt idx="8">
                  <c:v>9</c:v>
                </c:pt>
              </c:strCache>
            </c:strRef>
          </c:cat>
          <c:val>
            <c:numRef>
              <c:f>Data!$C$2:$C$10</c:f>
              <c:numCache>
                <c:formatCode>General</c:formatCode>
                <c:ptCount val="9"/>
                <c:pt idx="0">
                  <c:v>0.8096321345244405</c:v>
                </c:pt>
                <c:pt idx="1">
                  <c:v>0.8289303584704483</c:v>
                </c:pt>
                <c:pt idx="2">
                  <c:v>0.8213695390371665</c:v>
                </c:pt>
                <c:pt idx="3">
                  <c:v>0.8190391774964445</c:v>
                </c:pt>
                <c:pt idx="4">
                  <c:v>0.8361690053019972</c:v>
                </c:pt>
                <c:pt idx="5">
                  <c:v>0.8401072901378714</c:v>
                </c:pt>
                <c:pt idx="6">
                  <c:v>0.828141388639474</c:v>
                </c:pt>
                <c:pt idx="7">
                  <c:v>0.8274831249490904</c:v>
                </c:pt>
                <c:pt idx="8">
                  <c:v>0.8367368780522193</c:v>
                </c:pt>
              </c:numCache>
            </c:numRef>
          </c:val>
          <c:smooth val="0"/>
        </c:ser>
        <c:ser>
          <c:idx val="2"/>
          <c:order val="2"/>
          <c:tx>
            <c:strRef>
              <c:f>Data!$D$1</c:f>
              <c:strCache>
                <c:ptCount val="1"/>
                <c:pt idx="0">
                  <c:v>Fold 2 train</c:v>
                </c:pt>
              </c:strCache>
            </c:strRef>
          </c:tx>
          <c:spPr>
            <a:ln xmlns:a="http://schemas.openxmlformats.org/drawingml/2006/main" w="25400">
              <a:solidFill>
                <a:srgbClr val="A25524"/>
              </a:solidFill>
            </a:ln>
          </c:spPr>
          <c:marker>
            <c:symbol val="none"/>
          </c:marker>
          <c:cat>
            <c:strRef>
              <c:f>Data!$A$2:$A$9</c:f>
              <c:strCache>
                <c:ptCount val="8"/>
                <c:pt idx="0">
                  <c:v>1</c:v>
                </c:pt>
                <c:pt idx="1">
                  <c:v>2</c:v>
                </c:pt>
                <c:pt idx="2">
                  <c:v>3</c:v>
                </c:pt>
                <c:pt idx="3">
                  <c:v>4</c:v>
                </c:pt>
                <c:pt idx="4">
                  <c:v>5</c:v>
                </c:pt>
                <c:pt idx="5">
                  <c:v>6</c:v>
                </c:pt>
                <c:pt idx="6">
                  <c:v>7</c:v>
                </c:pt>
                <c:pt idx="7">
                  <c:v>8</c:v>
                </c:pt>
              </c:strCache>
            </c:strRef>
          </c:cat>
          <c:val>
            <c:numRef>
              <c:f>Data!$D$2:$D$9</c:f>
              <c:numCache>
                <c:formatCode>General</c:formatCode>
                <c:ptCount val="8"/>
                <c:pt idx="0">
                  <c:v>0.5332982974003352</c:v>
                </c:pt>
                <c:pt idx="1">
                  <c:v>0.8866538154850618</c:v>
                </c:pt>
                <c:pt idx="2">
                  <c:v>0.9628915492045242</c:v>
                </c:pt>
                <c:pt idx="3">
                  <c:v>0.9990476084654908</c:v>
                </c:pt>
                <c:pt idx="4">
                  <c:v>1.0</c:v>
                </c:pt>
                <c:pt idx="5">
                  <c:v>1.0</c:v>
                </c:pt>
                <c:pt idx="6">
                  <c:v>1.0</c:v>
                </c:pt>
                <c:pt idx="7">
                  <c:v>1.0</c:v>
                </c:pt>
              </c:numCache>
            </c:numRef>
          </c:val>
          <c:smooth val="0"/>
        </c:ser>
        <c:ser>
          <c:idx val="3"/>
          <c:order val="3"/>
          <c:tx>
            <c:strRef>
              <c:f>Data!$E$1</c:f>
              <c:strCache>
                <c:ptCount val="1"/>
                <c:pt idx="0">
                  <c:v>Fold 2 validation</c:v>
                </c:pt>
              </c:strCache>
            </c:strRef>
          </c:tx>
          <c:spPr>
            <a:ln xmlns:a="http://schemas.openxmlformats.org/drawingml/2006/main" w="25400">
              <a:solidFill>
                <a:srgbClr val="A25524"/>
              </a:solidFill>
              <a:prstDash val="dash"/>
            </a:ln>
          </c:spPr>
          <c:marker>
            <c:symbol val="none"/>
          </c:marker>
          <c:cat>
            <c:strRef>
              <c:f>Data!$A$2:$A$9</c:f>
              <c:strCache>
                <c:ptCount val="8"/>
                <c:pt idx="0">
                  <c:v>1</c:v>
                </c:pt>
                <c:pt idx="1">
                  <c:v>2</c:v>
                </c:pt>
                <c:pt idx="2">
                  <c:v>3</c:v>
                </c:pt>
                <c:pt idx="3">
                  <c:v>4</c:v>
                </c:pt>
                <c:pt idx="4">
                  <c:v>5</c:v>
                </c:pt>
                <c:pt idx="5">
                  <c:v>6</c:v>
                </c:pt>
                <c:pt idx="6">
                  <c:v>7</c:v>
                </c:pt>
                <c:pt idx="7">
                  <c:v>8</c:v>
                </c:pt>
              </c:strCache>
            </c:strRef>
          </c:cat>
          <c:val>
            <c:numRef>
              <c:f>Data!$E$2:$E$9</c:f>
              <c:numCache>
                <c:formatCode>General</c:formatCode>
                <c:ptCount val="8"/>
                <c:pt idx="0">
                  <c:v>0.7195502165306438</c:v>
                </c:pt>
                <c:pt idx="1">
                  <c:v>0.7566542532090199</c:v>
                </c:pt>
                <c:pt idx="2">
                  <c:v>0.8010672415886074</c:v>
                </c:pt>
                <c:pt idx="3">
                  <c:v>0.800559294186313</c:v>
                </c:pt>
                <c:pt idx="4">
                  <c:v>0.8029839348091382</c:v>
                </c:pt>
                <c:pt idx="5">
                  <c:v>0.7801943885765079</c:v>
                </c:pt>
                <c:pt idx="6">
                  <c:v>0.7820534558295206</c:v>
                </c:pt>
                <c:pt idx="7">
                  <c:v>0.7957450167234467</c:v>
                </c:pt>
              </c:numCache>
            </c:numRef>
          </c:val>
          <c:smooth val="0"/>
        </c:ser>
        <c:ser>
          <c:idx val="4"/>
          <c:order val="4"/>
          <c:tx>
            <c:strRef>
              <c:f>Data!$F$1</c:f>
              <c:strCache>
                <c:ptCount val="1"/>
                <c:pt idx="0">
                  <c:v>Fold 3 train</c:v>
                </c:pt>
              </c:strCache>
            </c:strRef>
          </c:tx>
          <c:spPr>
            <a:ln xmlns:a="http://schemas.openxmlformats.org/drawingml/2006/main" w="25400">
              <a:solidFill>
                <a:srgbClr val="65549D"/>
              </a:solidFill>
            </a:ln>
          </c:spPr>
          <c:marker>
            <c:symbol val="none"/>
          </c:marker>
          <c:cat>
            <c:strRef>
              <c:f>Data!$A$2:$A$7</c:f>
              <c:strCache>
                <c:ptCount val="6"/>
                <c:pt idx="0">
                  <c:v>1</c:v>
                </c:pt>
                <c:pt idx="1">
                  <c:v>2</c:v>
                </c:pt>
                <c:pt idx="2">
                  <c:v>3</c:v>
                </c:pt>
                <c:pt idx="3">
                  <c:v>4</c:v>
                </c:pt>
                <c:pt idx="4">
                  <c:v>5</c:v>
                </c:pt>
                <c:pt idx="5">
                  <c:v>6</c:v>
                </c:pt>
              </c:strCache>
            </c:strRef>
          </c:cat>
          <c:val>
            <c:numRef>
              <c:f>Data!$F$2:$F$7</c:f>
              <c:numCache>
                <c:formatCode>General</c:formatCode>
                <c:ptCount val="6"/>
                <c:pt idx="0">
                  <c:v>0.643369262842352</c:v>
                </c:pt>
                <c:pt idx="1">
                  <c:v>0.9160201197972914</c:v>
                </c:pt>
                <c:pt idx="2">
                  <c:v>0.9820464847373905</c:v>
                </c:pt>
                <c:pt idx="3">
                  <c:v>1.0</c:v>
                </c:pt>
                <c:pt idx="4">
                  <c:v>1.0</c:v>
                </c:pt>
                <c:pt idx="5">
                  <c:v>1.0</c:v>
                </c:pt>
              </c:numCache>
            </c:numRef>
          </c:val>
          <c:smooth val="0"/>
        </c:ser>
        <c:ser>
          <c:idx val="5"/>
          <c:order val="5"/>
          <c:tx>
            <c:strRef>
              <c:f>Data!$G$1</c:f>
              <c:strCache>
                <c:ptCount val="1"/>
                <c:pt idx="0">
                  <c:v>Fold 3 validation</c:v>
                </c:pt>
              </c:strCache>
            </c:strRef>
          </c:tx>
          <c:spPr>
            <a:ln xmlns:a="http://schemas.openxmlformats.org/drawingml/2006/main" w="25400">
              <a:solidFill>
                <a:srgbClr val="65549D"/>
              </a:solidFill>
              <a:prstDash val="dash"/>
            </a:ln>
          </c:spPr>
          <c:marker>
            <c:symbol val="none"/>
          </c:marker>
          <c:cat>
            <c:strRef>
              <c:f>Data!$A$2:$A$7</c:f>
              <c:strCache>
                <c:ptCount val="6"/>
                <c:pt idx="0">
                  <c:v>1</c:v>
                </c:pt>
                <c:pt idx="1">
                  <c:v>2</c:v>
                </c:pt>
                <c:pt idx="2">
                  <c:v>3</c:v>
                </c:pt>
                <c:pt idx="3">
                  <c:v>4</c:v>
                </c:pt>
                <c:pt idx="4">
                  <c:v>5</c:v>
                </c:pt>
                <c:pt idx="5">
                  <c:v>6</c:v>
                </c:pt>
              </c:strCache>
            </c:strRef>
          </c:cat>
          <c:val>
            <c:numRef>
              <c:f>Data!$G$2:$G$7</c:f>
              <c:numCache>
                <c:formatCode>General</c:formatCode>
                <c:ptCount val="6"/>
                <c:pt idx="0">
                  <c:v>0.5555178733336777</c:v>
                </c:pt>
                <c:pt idx="1">
                  <c:v>0.5949533046885433</c:v>
                </c:pt>
                <c:pt idx="2">
                  <c:v>0.6743554298153329</c:v>
                </c:pt>
                <c:pt idx="3">
                  <c:v>0.6616097541750827</c:v>
                </c:pt>
                <c:pt idx="4">
                  <c:v>0.6313349699864902</c:v>
                </c:pt>
                <c:pt idx="5">
                  <c:v>0.6373669296538432</c:v>
                </c:pt>
              </c:numCache>
            </c:numRef>
          </c:val>
          <c:smooth val="0"/>
        </c:ser>
        <c:axId val="100"/>
        <c:axId val="200"/>
      </c:lineChart>
      <c:catAx>
        <c:axId val="100"/>
        <c:scaling>
          <c:orientation val="minMax"/>
        </c:scaling>
        <c:delete val="0"/>
        <c:axPos val="b"/>
        <c:title>
          <c:tx>
            <c:rich>
              <a:bodyPr xmlns:a="http://schemas.openxmlformats.org/drawingml/2006/main"/>
              <a:lstStyle xmlns:a="http://schemas.openxmlformats.org/drawingml/2006/main"/>
              <a:p xmlns:a="http://schemas.openxmlformats.org/drawingml/2006/main">
                <a:r>
                  <a:rPr lang="en-US" sz="1100">
                    <a:latin typeface="Aptos"/>
                  </a:rPr>
                  <a:t>Epoch</a:t>
                </a:r>
              </a:p>
            </c:rich>
          </c:tx>
          <c:overlay val="0"/>
        </c:title>
        <c:majorTickMark val="none"/>
        <c:minorTickMark val="none"/>
        <c:tickLblPos val="nextTo"/>
        <c:crossAx val="200"/>
        <c:crosses val="autoZero"/>
        <c:auto val="1"/>
        <c:lblAlgn val="ctr"/>
        <c:lblOffset val="100"/>
      </c:catAx>
      <c:valAx>
        <c:axId val="200"/>
        <c:scaling>
          <c:orientation val="minMax"/>
          <c:max val="1"/>
          <c:min val="0"/>
        </c:scaling>
        <c:delete val="0"/>
        <c:axPos val="l"/>
        <c:majorGridlines/>
        <c:title>
          <c:tx>
            <c:rich>
              <a:bodyPr xmlns:a="http://schemas.openxmlformats.org/drawingml/2006/main"/>
              <a:lstStyle xmlns:a="http://schemas.openxmlformats.org/drawingml/2006/main"/>
              <a:p xmlns:a="http://schemas.openxmlformats.org/drawingml/2006/main">
                <a:r>
                  <a:rPr lang="en-US" sz="1100">
                    <a:latin typeface="Aptos"/>
                  </a:rPr>
                  <a:t>Macro F1</a:t>
                </a:r>
              </a:p>
            </c:rich>
          </c:tx>
          <c:overlay val="0"/>
        </c:title>
        <c:numFmt formatCode="0.0" sourceLinked="0"/>
        <c:majorTickMark val="none"/>
        <c:minorTickMark val="none"/>
        <c:tickLblPos val="nextTo"/>
        <c:crossAx val="100"/>
        <c:crosses val="autoZero"/>
        <c:crossBetween val="between"/>
      </c:valAx>
    </c:plotArea>
    <c:legend>
      <c:legendPos val="b"/>
      <c:layout/>
      <c:overlay val="0"/>
    </c:legend>
    <c:plotVisOnly val="1"/>
    <c:dispBlanksAs val="gap"/>
  </c:chart>
  <c:txPr>
    <a:bodyPr xmlns:a="http://schemas.openxmlformats.org/drawingml/2006/main"/>
    <a:lstStyle xmlns:a="http://schemas.openxmlformats.org/drawingml/2006/main"/>
    <a:p xmlns:a="http://schemas.openxmlformats.org/drawingml/2006/main">
      <a:pPr>
        <a:defRPr sz="1100">
          <a:latin typeface="Aptos"/>
        </a:defRPr>
      </a:pPr>
    </a:p>
  </c:txPr>
  <c:externalData xmlns:r="http://schemas.openxmlformats.org/officeDocument/2006/relationships" r:id="rId1">
    <c:autoUpdate val="0"/>
  </c:externalData>
</c:chartSpace>
</file>

<file path=ppt/charts/chart3.xml><?xml version="1.0" encoding="utf-8"?>
<c:chartSpace xmlns:c="http://schemas.openxmlformats.org/drawingml/2006/chart">
  <c:date1904 val="0"/>
  <c:lang val="en-US"/>
  <c:chart>
    <c:title>
      <c:tx>
        <c:rich>
          <a:bodyPr xmlns:a="http://schemas.openxmlformats.org/drawingml/2006/main"/>
          <a:lstStyle xmlns:a="http://schemas.openxmlformats.org/drawingml/2006/main"/>
          <a:p xmlns:a="http://schemas.openxmlformats.org/drawingml/2006/main">
            <a:r>
              <a:rPr lang="en-US" sz="1700">
                <a:latin typeface="Aptos"/>
              </a:rPr>
              <a:t>Accuracy under image corruption</a:t>
            </a:r>
          </a:p>
        </c:rich>
      </c:tx>
      <c:overlay val="0"/>
    </c:title>
    <c:plotArea>
      <c:layout/>
      <c:barChart>
        <c:barDir val="col"/>
        <c:grouping val="clustered"/>
        <c:varyColors val="0"/>
        <c:ser>
          <c:idx val="0"/>
          <c:order val="0"/>
          <c:tx>
            <c:strRef>
              <c:f>Data!$B$1</c:f>
              <c:strCache>
                <c:ptCount val="1"/>
                <c:pt idx="0">
                  <c:v>Primary</c:v>
                </c:pt>
              </c:strCache>
            </c:strRef>
          </c:tx>
          <c:spPr>
            <a:solidFill xmlns:a="http://schemas.openxmlformats.org/drawingml/2006/main">
              <a:srgbClr val="137F82"/>
            </a:solidFill>
            <a:ln xmlns:a="http://schemas.openxmlformats.org/drawingml/2006/main" w="25400">
              <a:solidFill>
                <a:srgbClr val="137F82"/>
              </a:solidFill>
            </a:ln>
          </c:spPr>
          <c:cat>
            <c:strRef>
              <c:f>Data!$A$2:$A$7</c:f>
              <c:strCache>
                <c:ptCount val="6"/>
                <c:pt idx="0">
                  <c:v>Clean</c:v>
                </c:pt>
                <c:pt idx="1">
                  <c:v>Darker</c:v>
                </c:pt>
                <c:pt idx="2">
                  <c:v>Brighter</c:v>
                </c:pt>
                <c:pt idx="3">
                  <c:v>Blur</c:v>
                </c:pt>
                <c:pt idx="4">
                  <c:v>JPEG 30</c:v>
                </c:pt>
                <c:pt idx="5">
                  <c:v>128 px</c:v>
                </c:pt>
              </c:strCache>
            </c:strRef>
          </c:cat>
          <c:val>
            <c:numRef>
              <c:f>Data!$B$2:$B$7</c:f>
              <c:numCache>
                <c:formatCode>General</c:formatCode>
                <c:ptCount val="6"/>
                <c:pt idx="0">
                  <c:v>80.15873015873017</c:v>
                </c:pt>
                <c:pt idx="1">
                  <c:v>78.25396825396825</c:v>
                </c:pt>
                <c:pt idx="2">
                  <c:v>83.01587301587303</c:v>
                </c:pt>
                <c:pt idx="3">
                  <c:v>77.14285714285715</c:v>
                </c:pt>
                <c:pt idx="4">
                  <c:v>59.04761904761905</c:v>
                </c:pt>
                <c:pt idx="5">
                  <c:v>75.07936507936508</c:v>
                </c:pt>
              </c:numCache>
            </c:numRef>
          </c:val>
        </c:ser>
        <c:ser>
          <c:idx val="1"/>
          <c:order val="1"/>
          <c:tx>
            <c:strRef>
              <c:f>Data!$C$1</c:f>
              <c:strCache>
                <c:ptCount val="1"/>
                <c:pt idx="0">
                  <c:v>DINOv2 (post hoc)</c:v>
                </c:pt>
              </c:strCache>
            </c:strRef>
          </c:tx>
          <c:spPr>
            <a:solidFill xmlns:a="http://schemas.openxmlformats.org/drawingml/2006/main">
              <a:srgbClr val="A25524"/>
            </a:solidFill>
            <a:ln xmlns:a="http://schemas.openxmlformats.org/drawingml/2006/main" w="25400">
              <a:solidFill>
                <a:srgbClr val="A25524"/>
              </a:solidFill>
            </a:ln>
          </c:spPr>
          <c:cat>
            <c:strRef>
              <c:f>Data!$A$2:$A$7</c:f>
              <c:strCache>
                <c:ptCount val="6"/>
                <c:pt idx="0">
                  <c:v>Clean</c:v>
                </c:pt>
                <c:pt idx="1">
                  <c:v>Darker</c:v>
                </c:pt>
                <c:pt idx="2">
                  <c:v>Brighter</c:v>
                </c:pt>
                <c:pt idx="3">
                  <c:v>Blur</c:v>
                </c:pt>
                <c:pt idx="4">
                  <c:v>JPEG 30</c:v>
                </c:pt>
                <c:pt idx="5">
                  <c:v>128 px</c:v>
                </c:pt>
              </c:strCache>
            </c:strRef>
          </c:cat>
          <c:val>
            <c:numRef>
              <c:f>Data!$C$2:$C$7</c:f>
              <c:numCache>
                <c:formatCode>General</c:formatCode>
                <c:ptCount val="6"/>
                <c:pt idx="0">
                  <c:v>86.82539682539682</c:v>
                </c:pt>
                <c:pt idx="1">
                  <c:v>85.23809523809524</c:v>
                </c:pt>
                <c:pt idx="2">
                  <c:v>89.04761904761904</c:v>
                </c:pt>
                <c:pt idx="3">
                  <c:v>80.0</c:v>
                </c:pt>
                <c:pt idx="4">
                  <c:v>75.39682539682539</c:v>
                </c:pt>
                <c:pt idx="5">
                  <c:v>83.17460317460318</c:v>
                </c:pt>
              </c:numCache>
            </c:numRef>
          </c:val>
        </c:ser>
        <c:gapWidth val="90"/>
        <c:overlap val="0"/>
        <c:axId val="100"/>
        <c:axId val="200"/>
      </c:barChart>
      <c:catAx>
        <c:axId val="100"/>
        <c:scaling>
          <c:orientation val="minMax"/>
        </c:scaling>
        <c:delete val="0"/>
        <c:axPos val="b"/>
        <c:majorTickMark val="none"/>
        <c:minorTickMark val="none"/>
        <c:tickLblPos val="nextTo"/>
        <c:crossAx val="200"/>
        <c:crosses val="autoZero"/>
        <c:auto val="1"/>
        <c:lblAlgn val="ctr"/>
        <c:lblOffset val="100"/>
      </c:catAx>
      <c:valAx>
        <c:axId val="200"/>
        <c:scaling>
          <c:orientation val="minMax"/>
          <c:max val="100"/>
          <c:min val="0"/>
        </c:scaling>
        <c:delete val="0"/>
        <c:axPos val="l"/>
        <c:majorGridlines/>
        <c:title>
          <c:tx>
            <c:rich>
              <a:bodyPr xmlns:a="http://schemas.openxmlformats.org/drawingml/2006/main"/>
              <a:lstStyle xmlns:a="http://schemas.openxmlformats.org/drawingml/2006/main"/>
              <a:p xmlns:a="http://schemas.openxmlformats.org/drawingml/2006/main">
                <a:r>
                  <a:rPr lang="en-US" sz="1100">
                    <a:latin typeface="Aptos"/>
                  </a:rPr>
                  <a:t>Accuracy (%)</a:t>
                </a:r>
              </a:p>
            </c:rich>
          </c:tx>
          <c:overlay val="0"/>
        </c:title>
        <c:numFmt formatCode="0" sourceLinked="0"/>
        <c:majorTickMark val="none"/>
        <c:minorTickMark val="none"/>
        <c:tickLblPos val="nextTo"/>
        <c:crossAx val="100"/>
        <c:crosses val="autoZero"/>
        <c:crossBetween val="between"/>
      </c:valAx>
    </c:plotArea>
    <c:legend>
      <c:legendPos val="b"/>
      <c:layout/>
      <c:overlay val="0"/>
    </c:legend>
    <c:plotVisOnly val="1"/>
    <c:dispBlanksAs val="gap"/>
  </c:chart>
  <c:txPr>
    <a:bodyPr xmlns:a="http://schemas.openxmlformats.org/drawingml/2006/main"/>
    <a:lstStyle xmlns:a="http://schemas.openxmlformats.org/drawingml/2006/main"/>
    <a:p xmlns:a="http://schemas.openxmlformats.org/drawingml/2006/main">
      <a:pPr>
        <a:defRPr sz="1100">
          <a:latin typeface="Aptos"/>
        </a:defRPr>
      </a:pPr>
    </a:p>
  </c:txPr>
  <c:externalData xmlns:r="http://schemas.openxmlformats.org/officeDocument/2006/relationships"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C3AC47-FE24-45D2-A6C3-F58E108875C4}" type="datetimeFigureOut">
              <a:rPr lang="en-ZA" smtClean="0"/>
              <a:t>2026/10/27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6328EC-B0AC-4F93-B5FB-351936BA95BE}" type="slidenum">
              <a:rPr lang="en-ZA" smtClean="0"/>
              <a:t>‹#›</a:t>
            </a:fld>
            <a:endParaRPr lang="en-ZA"/>
          </a:p>
        </p:txBody>
      </p:sp>
    </p:spTree>
    <p:extLst>
      <p:ext uri="{BB962C8B-B14F-4D97-AF65-F5344CB8AC3E}">
        <p14:creationId xmlns:p14="http://schemas.microsoft.com/office/powerpoint/2010/main" val="318540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problem as visual appearance classification in a controlled rendering setting. The practical aim is to assist material browsing or organisation. Leave the group-member fields blank until the presenters supply their names. This rehearsal plan is about ten minutes, not a lecturer-assigned duration.
Sources:
ITRI626 practical project brief, sections 2, 10 and 12.2
reports/v3/report.md, Abstract and section 1</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a:t>
            </a:fld>
            <a:endParaRPr lang="en-ZA"/>
          </a:p>
        </p:txBody>
      </p:sp>
    </p:spTree>
    <p:extLst>
      <p:ext uri="{BB962C8B-B14F-4D97-AF65-F5344CB8AC3E}">
        <p14:creationId xmlns:p14="http://schemas.microsoft.com/office/powerpoint/2010/main" val="497128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image receives one of seven appearance labels. This could help search a rendered asset library. The categories are wood, metal, stone, concrete, ceramic, fabric and leather. Each picture is an actual held-out render selected by path, without filtering by correctness. The same sphere makes texture and reflectance informative, but this does not identify physical composition. In the development collection, ceramic includes mosaic or terrazzo-like appearances and concrete includes plaster or painted walls.
Sources:
reports/results/v3/report_inputs/gallery_selection.json
reports/v3/report.md, sections 1-2</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2</a:t>
            </a:fld>
            <a:endParaRPr lang="en-ZA"/>
          </a:p>
        </p:txBody>
      </p:sp>
    </p:spTree>
    <p:extLst>
      <p:ext uri="{BB962C8B-B14F-4D97-AF65-F5344CB8AC3E}">
        <p14:creationId xmlns:p14="http://schemas.microsoft.com/office/powerpoint/2010/main" val="33644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study has 3,780 balanced RGB images at 512 by 512 pixels, with 30 rendered views per material. Development contains 450 images per class and the fresh holdout 90 per class. Source textures come from Poly Haven and ambientCG under CC0. They include scanned and procedural assets, so we do not describe all sources as independent physical scans. Labels follow audited asset identity and appearance. Known generator relatives are merged into groups. Thirty views of a texture remain correlated. No known development-to-holdout family or exact-map reuse remains, but unknown physical ancestry cannot be ruled out. The rendered-dataset release licence is still an owner decision.
Sources:
reports/results/v3/data_audit.json
metadata/v3_holdout/source_identity_audit.json
reports/results/v3/report_inputs/study_counts.csv
https://polyhaven.com/license
https://docs.ambientcg.com/license/</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3</a:t>
            </a:fld>
            <a:endParaRPr lang="en-ZA"/>
          </a:p>
        </p:txBody>
      </p:sp>
    </p:spTree>
    <p:extLst>
      <p:ext uri="{BB962C8B-B14F-4D97-AF65-F5344CB8AC3E}">
        <p14:creationId xmlns:p14="http://schemas.microsoft.com/office/powerpoint/2010/main" val="1777440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ConvNeXt is a modern convolutional model, ResNet is a residual convolutional network, and DINOv2 uses a vision transformer. All use pretrained weights. A frozen ConvNeXt control and fixed ResNet baseline provide family comparisons. The primary fuses DINOv2 and ConvNeXt features and fits a scaled, class-balanced logistic classifier. DINO pools CLS, patch mean and patch standard deviation at two resolutions, excluding register tokens from patch pooling. The partially fine-tuned DINO model is exploratory. These are complete pipeline comparisons because pretraining data, resolution and compute budgets differ.
Sources:
reports/results/v3/frozen_initial/protocol.json
configs/v3/finetune.json
reports/results/v3/resnet_baseline/config.json
reports/v3/report.md, section 5
https://arxiv.org/abs/2304.07193
https://arxiv.org/abs/2201.03545
https://arxiv.org/abs/1512.03385</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4</a:t>
            </a:fld>
            <a:endParaRPr lang="en-ZA"/>
          </a:p>
        </p:txBody>
      </p:sp>
    </p:spTree>
    <p:extLst>
      <p:ext uri="{BB962C8B-B14F-4D97-AF65-F5344CB8AC3E}">
        <p14:creationId xmlns:p14="http://schemas.microsoft.com/office/powerpoint/2010/main" val="129803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frozen selection uses five outer source-group folds and three inner grouped folds, seed 20261027. Inner folds select five representations and C in 0.01, 0.1, 1 and 10 by Macro F1. The scaler and classifier are fitted inside each training partition. All original images are development data because the historical test had already been consulted. The neural comparison uses the same development pool and the same final holdout. DINO searches two learning rates in a bounded three-fold exploratory follow-up. Preprocessing converts to RGB, uses model-specific resize and centre crop and pretrained normalisation. Neural training alone adds small random crops, horizontal flips and mild colour jitter. ResNet uses AdamW with a cosine schedule for ten fixed epochs. DINO uses AdamW and development early stopping, then a fixed five-epoch final fit. Both have effective batch size 32, label-smoothed cross entropy and weight decay 0.01. Development Macro F1 selected the frozen primary before any fresh scores. Four fixed models then received one clean evaluation each.
Sources:
reports/results/v3/frozen_initial/protocol.json
configs/v3/finetune.json
reports/results/v3/resnet_baseline/config.json
reports/results/v3/model_choice.json
reports/results/v3/final_model_lock.json</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5</a:t>
            </a:fld>
            <a:endParaRPr lang="en-ZA"/>
          </a:p>
        </p:txBody>
      </p:sp>
    </p:spTree>
    <p:extLst>
      <p:ext uri="{BB962C8B-B14F-4D97-AF65-F5344CB8AC3E}">
        <p14:creationId xmlns:p14="http://schemas.microsoft.com/office/powerpoint/2010/main" val="654390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complete recorded histories for all three development folds at the selected DINO backbone learning rate of 1e-5. Solid curves show training and dashed curves development validation. No curve is a fresh-test result. The training fit becomes strong while validation varies by source fold. Validation chooses the learning rate and epoch count, so it is optimistic for that selection. The six-fit search also includes 3e-6, whose mean best development Macro F1 was 0.76250 versus 0.77248 at 1e-5. Best epochs 6, 5 and 3 imply five final epochs. ResNet has actual training-only logs for its fixed schedule and no epoch-wise validation curve. The frozen logistic head has regularisation-search diagnostics, not neural learning epochs.
Sources:
reports/results/v3/finetune_development/lr_1e-05_fold_0/progress.json
reports/results/v3/finetune_development/lr_1e-05_fold_1/progress.json
reports/results/v3/finetune_development/lr_1e-05_fold_2/progress.json
reports/results/v3/finetune_development/selection.json
reports/results/v3/resnet_baseline/final_history.csv</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6</a:t>
            </a:fld>
            <a:endParaRPr lang="en-ZA"/>
          </a:p>
        </p:txBody>
      </p:sp>
    </p:spTree>
    <p:extLst>
      <p:ext uri="{BB962C8B-B14F-4D97-AF65-F5344CB8AC3E}">
        <p14:creationId xmlns:p14="http://schemas.microsoft.com/office/powerpoint/2010/main" val="3145453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achieves 505 correct images out of 630, or 80.16%, with Macro F1 0.7952. Its 95% source-group bootstrap interval is 66.03 to 93.65%. The point target of 80% is met but the lower bound is below 80%. Fine-tuned DINOv2 records 86.83% and Macro F1 0.8631. It stays an exploratory comparison. Its paired accuracy advantage over the primary is 6.67 percentage points with interval minus 2.06 to plus 16.19, which includes zero. Thus the ranking does not establish superiority. The control interval is 61.59 to 88.73%, ResNet 63.65 to 90.48%, and DINOv2 76.98 to 95.87%. Intervals use 10,000 class-stratified cluster draws over 21 sources, conditional on these saved predictions.
Sources:
reports/results/v3/fresh/frozen_selected/evaluation.json
reports/results/v3/fresh/frozen_control/evaluation.json
reports/results/v3/fresh/resnet_fixed/evaluation.json
reports/results/v3/fresh/dinov2_finetuned/evaluation.json
reports/results/v3/report_inputs/paired_fresh.csv</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7</a:t>
            </a:fld>
            <a:endParaRPr lang="en-ZA"/>
          </a:p>
        </p:txBody>
      </p:sp>
    </p:spTree>
    <p:extLst>
      <p:ext uri="{BB962C8B-B14F-4D97-AF65-F5344CB8AC3E}">
        <p14:creationId xmlns:p14="http://schemas.microsoft.com/office/powerpoint/2010/main" val="1519523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matrix by rows: true class first, prediction second. Every row has 90 images. Ceramic is often called stone, with 30 of its 90 images following that error. Leather is called concrete in 22 cases. Wood, metal and fabric reach perfect recall on the three sampled sources per class, which is not a population guarantee. Ceramic precision is 1.000 but recall is only 0.578, illustrating that missing many examples can coexist with few false positive labels. All values are saved point metrics, not newly scored results.
Sources:
reports/results/v3/fresh/frozen_selected/image_confusion_matrix.csv
reports/results/v3/fresh/frozen_selected/image_per_class.csv</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8</a:t>
            </a:fld>
            <a:endParaRPr lang="en-ZA"/>
          </a:p>
        </p:txBody>
      </p:sp>
    </p:spTree>
    <p:extLst>
      <p:ext uri="{BB962C8B-B14F-4D97-AF65-F5344CB8AC3E}">
        <p14:creationId xmlns:p14="http://schemas.microsoft.com/office/powerpoint/2010/main" val="592776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four examples use the saved primary predictions. The correct wood and metal examples are from the unfiltered class gallery. The ceramic and leather failures come from the report error gallery. They are selected illustrations rather than a representative performance estimate. Point to visual ambiguity in texture and reflectance as a plausible explanation, not a causal attribution. Model probabilities can be high for wrong answers and are not calibrated certainty. Show the predicted class and confidence for each.
Sources:
reports/results/v3/report_inputs/gallery_selection.json
reports/results/v3/fresh/frozen_selected/predictions.csv</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9</a:t>
            </a:fld>
            <a:endParaRPr lang="en-ZA"/>
          </a:p>
        </p:txBody>
      </p:sp>
    </p:spTree>
    <p:extLst>
      <p:ext uri="{BB962C8B-B14F-4D97-AF65-F5344CB8AC3E}">
        <p14:creationId xmlns:p14="http://schemas.microsoft.com/office/powerpoint/2010/main" val="363944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saved corruption results use the same 630 images and five deterministic transforms. The primary drops from 80.16% clean accuracy to 59.05% at JPEG quality 30, a 21.11 percentage point loss. DINOv2 falls from 86.83% to 75.40%. Primary corruption tests were predeclared, whereas the DINOv2 corruption comparison was applied after observing clean and primary-corruption scores and is explicitly post hoc. Compression is the largest degradation here, but these tests do not substitute for new scenes or real-camera data.
Sources:
reports/results/v3/robustness/primary/comparison.csv
reports/results/v3/robustness/dinov2_exploratory/comparison.csv
reports/results/v3/exploratory_robustness_amendment.json</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10</a:t>
            </a:fld>
            <a:endParaRPr lang="en-ZA"/>
          </a:p>
        </p:txBody>
      </p:sp>
    </p:spTree>
    <p:extLst>
      <p:ext uri="{BB962C8B-B14F-4D97-AF65-F5344CB8AC3E}">
        <p14:creationId xmlns:p14="http://schemas.microsoft.com/office/powerpoint/2010/main" val="3848560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recorded RTX 4070 Laptop GPU, ResNet has the lowest warm batch-one median latency. The primary is slower because it uses multiple backbone passes. Required storage includes the backbones, not just the small classifier head. Timing starts from predecoded RGB and includes preprocessing and probabilities, but excludes disk reading and decoding. These are CUDA measurements, not classroom CPU measurements. Provisionally recommend fine-tuned DINOv2 for classroom use with comparable renders; retain fusion as the predeclared study primary; independently confirm before broader deployment. DINOv2 has higher observed accuracy and lower measured latency than the primary, but the paired uncertainty does not establish superiority. Choose ResNet only if the speed trade-off is acceptable.
Sources:
reports/results/v3/benchmarks/frozen_selected/benchmark.json
reports/results/v3/benchmarks/frozen_control/benchmark.json
reports/results/v3/benchmarks/resnet_fixed/benchmark.json
reports/results/v3/benchmarks/dinov2_finetuned/benchmark.json</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11</a:t>
            </a:fld>
            <a:endParaRPr lang="en-ZA"/>
          </a:p>
        </p:txBody>
      </p:sp>
    </p:spTree>
    <p:extLst>
      <p:ext uri="{BB962C8B-B14F-4D97-AF65-F5344CB8AC3E}">
        <p14:creationId xmlns:p14="http://schemas.microsoft.com/office/powerpoint/2010/main" val="285755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21 new groups, three per class, give wide uncertainty despite 630 images. Asset provenance is audited but some common physical ancestry and backbone pretraining overlap may remain unknown. Sources combine scanned and procedural textures, and restricted class definitions and renderer differences affect transfer. No genuine photograph test has been performed. Pipeline comparison also combines architecture, resolution, pretraining and compute changes. The next experiment should be frozen before data collection, add more independent sources in ceramic, concrete, stone and leather, vary scene and camera, include real photographs, and test compression systematically. Reusing this now-scored holdout for tuning would require another fresh assessment.
Sources:
reports/v3/report.md, sections 3, 5 and 16
reports/results/v3/provenance_verification.json</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12</a:t>
            </a:fld>
            <a:endParaRPr lang="en-ZA"/>
          </a:p>
        </p:txBody>
      </p:sp>
    </p:spTree>
    <p:extLst>
      <p:ext uri="{BB962C8B-B14F-4D97-AF65-F5344CB8AC3E}">
        <p14:creationId xmlns:p14="http://schemas.microsoft.com/office/powerpoint/2010/main" val="1662103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separate classroom guide. Navigation is Classify, Study, Samples and About. Classify shows one image with a compact bottom toolbar: Open image, Samples, the model menu and Classify. Choose an image or sample and model, start classification, and let the loading state complete. Explain the concise class and confidence result, then open Details for the full probability distribution. Only call this a live prediction after the actual runtime has completed inference for that input. In Study, compare stored model metrics and confusions, then browse the class gallery in Samples. About is available in navigation. The redesigned minimal app has not yet been visually verified here. If runtime inference is unavailable, explicitly announce the offline fallback and use stored results or slide 9 examples. Conclude that source-aware evaluation supports the primary point target, but uncertainty and compression weakness limit broad claims.
Sources:
docs/CLASSROOM_DEMO.md
reports/results/v3/fresh/frozen_selected/evaluation.json</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13</a:t>
            </a:fld>
            <a:endParaRPr lang="en-ZA"/>
          </a:p>
        </p:txBody>
      </p:sp>
    </p:spTree>
    <p:extLst>
      <p:ext uri="{BB962C8B-B14F-4D97-AF65-F5344CB8AC3E}">
        <p14:creationId xmlns:p14="http://schemas.microsoft.com/office/powerpoint/2010/main" val="1915119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Experimental claims come from the saved evaluations, prediction tables, training histories and audit records cited in each slide note. These papers explain the model families and evaluation principles. Provider pages establish the source-texture licence, not a licence decision for the rendered collection. All presenters should be able to discuss the full study. Invite questions.
Sources:
ITRI626 practical project brief, sections 10 and 12.2
reports/v3/report.md, References</a:t>
            </a:r>
            <a:endParaRPr lang="en-ZA"/>
          </a:p>
        </p:txBody>
      </p:sp>
      <p:sp>
        <p:nvSpPr>
          <p:cNvPr id="4" name="Slide Number Placeholder 3"/>
          <p:cNvSpPr>
            <a:spLocks noGrp="1"/>
          </p:cNvSpPr>
          <p:nvPr>
            <p:ph type="sldNum" sz="quarter" idx="5"/>
          </p:nvPr>
        </p:nvSpPr>
        <p:spPr/>
        <p:txBody>
          <a:bodyPr/>
          <a:lstStyle/>
          <a:p>
            <a:fld id="{856328EC-B0AC-4F93-B5FB-351936BA95BE}" type="slidenum">
              <a:rPr lang="en-ZA" smtClean="0"/>
              <a:t>14</a:t>
            </a:fld>
            <a:endParaRPr lang="en-ZA"/>
          </a:p>
        </p:txBody>
      </p:sp>
    </p:spTree>
    <p:extLst>
      <p:ext uri="{BB962C8B-B14F-4D97-AF65-F5344CB8AC3E}">
        <p14:creationId xmlns:p14="http://schemas.microsoft.com/office/powerpoint/2010/main" val="1825269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F977-9855-5C00-4043-426524267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5980C87-A212-725B-16A0-28E8E24C02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A14B967-A9DE-9832-48D6-EA10212B3816}"/>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FE259818-9307-C1D9-2827-85273BA941E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77C9536-423B-C4A5-5CC8-6F1B1ED9FDA4}"/>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419816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649F-5D3F-5724-2A89-6BAEC97D436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F71DADA-8A3E-4B07-DC73-3411DA0C7F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5845042-84D4-DD02-F50C-2D7E0EDA1005}"/>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985A6C4F-F347-1E9C-C483-F58B50C0DCE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4353B9B-E0A7-0E88-4306-48C222CEED24}"/>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1784490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4973C-52E6-E200-EB58-D285138FEE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48A6DC84-EE80-2877-4BD7-B4077D3157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D0FF4E-8032-61B1-1D27-BA009C5EB231}"/>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AE188FBE-EE69-8301-F9F2-695E5D7A320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186E60E-572E-3A1F-26EC-7EF32903E63E}"/>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191902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78364-D344-B49C-0C2E-FF186C6D6E6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14587C8-F460-D1B7-9AA7-8BF77D266D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A8FD9D4-80D3-FE86-7D16-2B9DD8516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8DAF629B-8269-50F7-51C5-7449870B1578}"/>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6" name="Footer Placeholder 5">
            <a:extLst>
              <a:ext uri="{FF2B5EF4-FFF2-40B4-BE49-F238E27FC236}">
                <a16:creationId xmlns:a16="http://schemas.microsoft.com/office/drawing/2014/main" id="{5D2B8F33-EE5A-F56F-E643-D474F6E9FCF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6179AE4-4CF7-C1B0-5809-BB2EC4199D83}"/>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3044393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33A2A-A95F-2D5F-2BF1-D44C64C3479E}"/>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2E04963-C817-BC93-C8DC-F83C5B423C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2E0138-9B82-60AE-5EAF-625DACB129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DA402FE6-C126-35E5-247E-69C44BA2E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807392-D64C-C30E-3CB8-130FBC96D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4B3EDB7-7FFA-6399-72AD-B596D0478773}"/>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8" name="Footer Placeholder 7">
            <a:extLst>
              <a:ext uri="{FF2B5EF4-FFF2-40B4-BE49-F238E27FC236}">
                <a16:creationId xmlns:a16="http://schemas.microsoft.com/office/drawing/2014/main" id="{1F20EE8F-985D-49B5-B712-0109537CCE2C}"/>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BF1945E8-CB3F-42A6-A916-6D0ED4BECE3E}"/>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3728396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164CB-54C0-E4B5-6B3C-8D7DFB09BF59}"/>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9B243DBC-B35F-3045-D24E-3EE89EE324CF}"/>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4" name="Footer Placeholder 3">
            <a:extLst>
              <a:ext uri="{FF2B5EF4-FFF2-40B4-BE49-F238E27FC236}">
                <a16:creationId xmlns:a16="http://schemas.microsoft.com/office/drawing/2014/main" id="{1EF36436-8BC2-6556-29C3-6990A219135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7126A48-D223-A368-B2C2-B55DE72C5B02}"/>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374246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8CAFE-3D5E-8461-4668-9E10AB45DCF9}"/>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3" name="Footer Placeholder 2">
            <a:extLst>
              <a:ext uri="{FF2B5EF4-FFF2-40B4-BE49-F238E27FC236}">
                <a16:creationId xmlns:a16="http://schemas.microsoft.com/office/drawing/2014/main" id="{1D3D4F5F-B0DD-668A-C121-A31114C84A6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33332F12-5DB8-800E-EFC2-5159F0B0E71D}"/>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129472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7151-2BFD-F48F-93DD-6AE39E75A5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FF30D9D-E032-9AB9-9CBE-6998B60350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60D2348-6C27-7B44-6226-7C8CCB189A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17C81F-9D5D-7628-7F58-8BC866F1F882}"/>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6" name="Footer Placeholder 5">
            <a:extLst>
              <a:ext uri="{FF2B5EF4-FFF2-40B4-BE49-F238E27FC236}">
                <a16:creationId xmlns:a16="http://schemas.microsoft.com/office/drawing/2014/main" id="{C4D65681-6C28-5768-8052-9E485E01D64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BE70345-BAFB-8340-557C-2A9E8C522963}"/>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1086486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082D0-28FD-92AB-9583-4CD00F62C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E02A03D3-E7A0-8B46-BD2D-B6ADB6A6310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F20D4322-576C-C110-4217-0528B9347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6BF2E1-B6F7-9AAF-A40D-84ADDD18C1AB}"/>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6" name="Footer Placeholder 5">
            <a:extLst>
              <a:ext uri="{FF2B5EF4-FFF2-40B4-BE49-F238E27FC236}">
                <a16:creationId xmlns:a16="http://schemas.microsoft.com/office/drawing/2014/main" id="{041E9590-0771-883C-66F8-0A9F0006D07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BF8FB99-DA71-B926-3694-332872CC8F3F}"/>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110061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F8DF1-EAE5-A3AB-A50B-D5EF5C680122}"/>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97447E0-BC96-E221-6A5B-DD043305E0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A48A156-05A8-EEA2-20A8-C801BA51A827}"/>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B9E002AB-11C9-8152-E16F-23AA98BDF8C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54CCF08-CCCA-81CE-8DAA-C07D47CB0970}"/>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3865574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5E0DA1-AF1C-8AB6-A80D-F0C4E347BB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43DC5FD-2BD7-EE7C-6AD4-CE9B9C831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29CD298-BE93-20B5-B165-F677FC3C431D}"/>
              </a:ext>
            </a:extLst>
          </p:cNvPr>
          <p:cNvSpPr>
            <a:spLocks noGrp="1"/>
          </p:cNvSpPr>
          <p:nvPr>
            <p:ph type="dt" sz="half" idx="10"/>
          </p:nvPr>
        </p:nvSpPr>
        <p:spPr/>
        <p:txBody>
          <a:body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DB089361-870A-F9B9-E257-161A08CFCD5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C4A75C4-E5F2-D8AD-FF8C-5C6EBE35B72E}"/>
              </a:ext>
            </a:extLst>
          </p:cNvPr>
          <p:cNvSpPr>
            <a:spLocks noGrp="1"/>
          </p:cNvSpPr>
          <p:nvPr>
            <p:ph type="sldNum" sz="quarter" idx="12"/>
          </p:nvPr>
        </p:nvSpPr>
        <p:spPr/>
        <p:txBody>
          <a:bodyPr/>
          <a:lstStyle/>
          <a:p>
            <a:fld id="{DE9666F0-EC1E-4F49-9C01-524E517EA2EF}" type="slidenum">
              <a:rPr lang="en-ZA" smtClean="0"/>
              <a:t>‹#›</a:t>
            </a:fld>
            <a:endParaRPr lang="en-ZA"/>
          </a:p>
        </p:txBody>
      </p:sp>
    </p:spTree>
    <p:extLst>
      <p:ext uri="{BB962C8B-B14F-4D97-AF65-F5344CB8AC3E}">
        <p14:creationId xmlns:p14="http://schemas.microsoft.com/office/powerpoint/2010/main" val="3087013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CBF7F-87FF-4BD5-0967-007FD2AB6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E0AFCB9-686C-BDDD-F3B1-F1D5881A5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742DC26-7219-5D09-C3EB-B86F63C36E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53C6BC-5116-40AF-9DCC-0B33639BC89C}" type="datetimeFigureOut">
              <a:rPr lang="en-ZA" smtClean="0"/>
              <a:t>2026/10/27</a:t>
            </a:fld>
            <a:endParaRPr lang="en-ZA"/>
          </a:p>
        </p:txBody>
      </p:sp>
      <p:sp>
        <p:nvSpPr>
          <p:cNvPr id="5" name="Footer Placeholder 4">
            <a:extLst>
              <a:ext uri="{FF2B5EF4-FFF2-40B4-BE49-F238E27FC236}">
                <a16:creationId xmlns:a16="http://schemas.microsoft.com/office/drawing/2014/main" id="{E6CFA0DE-6413-A230-29D4-8E06839E8D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85AC2DE-FBF8-9F9E-0077-75E6448EBB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9666F0-EC1E-4F49-9C01-524E517EA2EF}" type="slidenum">
              <a:rPr lang="en-ZA" smtClean="0"/>
              <a:t>‹#›</a:t>
            </a:fld>
            <a:endParaRPr lang="en-ZA"/>
          </a:p>
        </p:txBody>
      </p:sp>
    </p:spTree>
    <p:extLst>
      <p:ext uri="{BB962C8B-B14F-4D97-AF65-F5344CB8AC3E}">
        <p14:creationId xmlns:p14="http://schemas.microsoft.com/office/powerpoint/2010/main" val="1997298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Chart1" Type="http://schemas.openxmlformats.org/officeDocument/2006/relationships/chart" Target="../charts/chart1.xml"/><Relationship Id="rIdChart2"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 Id="rIdChart3"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710157-98E8-49ED-B3EA-300D32D294F1}"/>
              </a:ext>
            </a:extLst>
          </p:cNvPr>
          <p:cNvSpPr txBox="1"/>
          <p:nvPr/>
        </p:nvSpPr>
        <p:spPr>
          <a:xfrm>
            <a:off x="609600" y="1714499"/>
            <a:ext cx="10922000" cy="1587500"/>
          </a:xfrm>
          <a:prstGeom prst="rect">
            <a:avLst/>
          </a:prstGeom>
          <a:noFill/>
        </p:spPr>
        <p:txBody>
          <a:bodyPr vert="horz" wrap="square" lIns="0" tIns="0" rIns="0" bIns="0" rtlCol="0">
            <a:noAutofit/>
          </a:bodyPr>
          <a:lstStyle/>
          <a:p>
            <a:pPr>
              <a:spcAft>
                <a:spcPts val="600"/>
              </a:spcAft>
            </a:pPr>
            <a:r>
              <a:rPr lang="de-DE" sz="4400" b="1">
                <a:solidFill>
                  <a:srgbClr val="142C40"/>
                </a:solidFill>
                <a:latin typeface="Aptos" panose="020B0004020202020204" pitchFamily="34" charset="0"/>
              </a:rPr>
              <a:t>Recognising materials
in Blender renders</a:t>
            </a:r>
            <a:endParaRPr lang="en-ZA" sz="44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A1120796-5CD5-C6A9-5145-B845066EC266}"/>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a:t>
            </a:r>
          </a:p>
        </p:txBody>
      </p:sp>
      <p:sp>
        <p:nvSpPr>
          <p:cNvPr id="4" name="TextBox 3">
            <a:extLst>
              <a:ext uri="{FF2B5EF4-FFF2-40B4-BE49-F238E27FC236}">
                <a16:creationId xmlns:a16="http://schemas.microsoft.com/office/drawing/2014/main" id="{5FB4B5B1-950A-10AE-5766-F685A5D54191}"/>
              </a:ext>
            </a:extLst>
          </p:cNvPr>
          <p:cNvSpPr txBox="1"/>
          <p:nvPr/>
        </p:nvSpPr>
        <p:spPr>
          <a:xfrm>
            <a:off x="609600" y="787399"/>
            <a:ext cx="10160000" cy="406400"/>
          </a:xfrm>
          <a:prstGeom prst="rect">
            <a:avLst/>
          </a:prstGeom>
          <a:noFill/>
        </p:spPr>
        <p:txBody>
          <a:bodyPr vert="horz" wrap="square" lIns="0" tIns="0" rIns="0" bIns="0" rtlCol="0">
            <a:noAutofit/>
          </a:bodyPr>
          <a:lstStyle/>
          <a:p>
            <a:pPr>
              <a:spcAft>
                <a:spcPts val="600"/>
              </a:spcAft>
            </a:pPr>
            <a:r>
              <a:rPr lang="en-US" sz="1900">
                <a:solidFill>
                  <a:srgbClr val="137F82"/>
                </a:solidFill>
                <a:latin typeface="Aptos" panose="020B0004020202020204" pitchFamily="34" charset="0"/>
              </a:rPr>
              <a:t>ITRI626  /  Deep learning for image classification</a:t>
            </a:r>
            <a:endParaRPr lang="en-ZA" sz="1900">
              <a:solidFill>
                <a:srgbClr val="137F82"/>
              </a:solidFill>
              <a:latin typeface="Aptos" panose="020B0004020202020204" pitchFamily="34" charset="0"/>
            </a:endParaRPr>
          </a:p>
        </p:txBody>
      </p:sp>
      <p:sp>
        <p:nvSpPr>
          <p:cNvPr id="5" name="TextBox 4">
            <a:extLst>
              <a:ext uri="{FF2B5EF4-FFF2-40B4-BE49-F238E27FC236}">
                <a16:creationId xmlns:a16="http://schemas.microsoft.com/office/drawing/2014/main" id="{C18EB692-6113-370E-A4FA-5D7D24985475}"/>
              </a:ext>
            </a:extLst>
          </p:cNvPr>
          <p:cNvSpPr txBox="1"/>
          <p:nvPr/>
        </p:nvSpPr>
        <p:spPr>
          <a:xfrm>
            <a:off x="609600" y="3619499"/>
            <a:ext cx="8509000" cy="990600"/>
          </a:xfrm>
          <a:prstGeom prst="rect">
            <a:avLst/>
          </a:prstGeom>
          <a:noFill/>
        </p:spPr>
        <p:txBody>
          <a:bodyPr vert="horz" wrap="square" lIns="0" tIns="0" rIns="0" bIns="0" rtlCol="0">
            <a:noAutofit/>
          </a:bodyPr>
          <a:lstStyle/>
          <a:p>
            <a:pPr>
              <a:spcAft>
                <a:spcPts val="600"/>
              </a:spcAft>
            </a:pPr>
            <a:r>
              <a:rPr lang="en-US" sz="2500">
                <a:solidFill>
                  <a:srgbClr val="20364A"/>
                </a:solidFill>
                <a:latin typeface="Aptos" panose="020B0004020202020204" pitchFamily="34" charset="0"/>
              </a:rPr>
              <a:t>Seven classes. Three model families.
Assessment on unseen source groups.</a:t>
            </a:r>
            <a:endParaRPr lang="en-ZA" sz="2500">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0537133C-3FD3-353C-0B1E-FB2859925BBC}"/>
              </a:ext>
            </a:extLst>
          </p:cNvPr>
          <p:cNvSpPr txBox="1"/>
          <p:nvPr/>
        </p:nvSpPr>
        <p:spPr>
          <a:xfrm>
            <a:off x="609600" y="5321299"/>
            <a:ext cx="2159000" cy="355600"/>
          </a:xfrm>
          <a:prstGeom prst="rect">
            <a:avLst/>
          </a:prstGeom>
          <a:noFill/>
        </p:spPr>
        <p:txBody>
          <a:bodyPr vert="horz" wrap="square" lIns="0" tIns="0" rIns="0" bIns="0" rtlCol="0">
            <a:noAutofit/>
          </a:bodyPr>
          <a:lstStyle/>
          <a:p>
            <a:pPr>
              <a:spcAft>
                <a:spcPts val="600"/>
              </a:spcAft>
            </a:pPr>
            <a:r>
              <a:rPr lang="en-ZA">
                <a:solidFill>
                  <a:srgbClr val="20364A"/>
                </a:solidFill>
                <a:latin typeface="Aptos" panose="020B0004020202020204" pitchFamily="34" charset="0"/>
              </a:rPr>
              <a:t>Group members:</a:t>
            </a:r>
          </a:p>
        </p:txBody>
      </p:sp>
      <p:sp>
        <p:nvSpPr>
          <p:cNvPr id="7" name="Group members - intentionally blank">
            <a:extLst>
              <a:ext uri="{FF2B5EF4-FFF2-40B4-BE49-F238E27FC236}">
                <a16:creationId xmlns:a16="http://schemas.microsoft.com/office/drawing/2014/main" id="{5104D14F-BAC3-C58F-7B07-2ED1FCC03496}"/>
              </a:ext>
            </a:extLst>
          </p:cNvPr>
          <p:cNvSpPr txBox="1"/>
          <p:nvPr/>
        </p:nvSpPr>
        <p:spPr>
          <a:xfrm>
            <a:off x="2794000" y="5283199"/>
            <a:ext cx="8636000" cy="762000"/>
          </a:xfrm>
          <a:prstGeom prst="rect">
            <a:avLst/>
          </a:prstGeom>
          <a:noFill/>
        </p:spPr>
        <p:txBody>
          <a:bodyPr vert="horz" wrap="square" lIns="0" tIns="0" rIns="0" bIns="0" rtlCol="0">
            <a:noAutofit/>
          </a:bodyPr>
          <a:lstStyle/>
          <a:p>
            <a:pPr>
              <a:spcAft>
                <a:spcPts val="600"/>
              </a:spcAft>
            </a:pPr>
            <a:endParaRPr lang="en-ZA" sz="2000">
              <a:solidFill>
                <a:srgbClr val="20364A"/>
              </a:solidFill>
              <a:latin typeface="Aptos" panose="020B0004020202020204" pitchFamily="34" charset="0"/>
            </a:endParaRPr>
          </a:p>
        </p:txBody>
      </p:sp>
    </p:spTree>
    <p:extLst>
      <p:ext uri="{BB962C8B-B14F-4D97-AF65-F5344CB8AC3E}">
        <p14:creationId xmlns:p14="http://schemas.microsoft.com/office/powerpoint/2010/main" val="4028812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B44E3D-3078-DBB1-2801-09B81A3E1E82}"/>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The problem and seven classes</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D7C333E6-A6BF-22D9-3CAC-B9C8348CF95D}"/>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2</a:t>
            </a:r>
          </a:p>
        </p:txBody>
      </p:sp>
      <p:sp>
        <p:nvSpPr>
          <p:cNvPr id="4" name="TextBox 3">
            <a:extLst>
              <a:ext uri="{FF2B5EF4-FFF2-40B4-BE49-F238E27FC236}">
                <a16:creationId xmlns:a16="http://schemas.microsoft.com/office/drawing/2014/main" id="{6A1E20FD-A05B-067F-AC2B-5C562069E217}"/>
              </a:ext>
            </a:extLst>
          </p:cNvPr>
          <p:cNvSpPr txBox="1"/>
          <p:nvPr/>
        </p:nvSpPr>
        <p:spPr>
          <a:xfrm>
            <a:off x="609600" y="1333499"/>
            <a:ext cx="10922000" cy="533400"/>
          </a:xfrm>
          <a:prstGeom prst="rect">
            <a:avLst/>
          </a:prstGeom>
          <a:noFill/>
        </p:spPr>
        <p:txBody>
          <a:bodyPr vert="horz" wrap="square" lIns="0" tIns="0" rIns="0" bIns="0" rtlCol="0">
            <a:noAutofit/>
          </a:bodyPr>
          <a:lstStyle/>
          <a:p>
            <a:pPr>
              <a:spcAft>
                <a:spcPts val="600"/>
              </a:spcAft>
            </a:pPr>
            <a:r>
              <a:rPr lang="en-US" sz="2300">
                <a:solidFill>
                  <a:srgbClr val="20364A"/>
                </a:solidFill>
                <a:latin typeface="Aptos" panose="020B0004020202020204" pitchFamily="34" charset="0"/>
              </a:rPr>
              <a:t>Classify material appearance to support browsing of rendered assets</a:t>
            </a:r>
            <a:endParaRPr lang="en-ZA" sz="2300">
              <a:solidFill>
                <a:srgbClr val="20364A"/>
              </a:solidFill>
              <a:latin typeface="Aptos" panose="020B0004020202020204" pitchFamily="34" charset="0"/>
            </a:endParaRPr>
          </a:p>
        </p:txBody>
      </p:sp>
      <p:pic>
        <p:nvPicPr>
          <p:cNvPr id="6" name="Picture 5">
            <a:extLst>
              <a:ext uri="{FF2B5EF4-FFF2-40B4-BE49-F238E27FC236}">
                <a16:creationId xmlns:a16="http://schemas.microsoft.com/office/drawing/2014/main" id="{4D7997C8-74E5-57C4-8E4A-D9909883FB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324100"/>
            <a:ext cx="1473200" cy="1473200"/>
          </a:xfrm>
          <a:prstGeom prst="rect">
            <a:avLst/>
          </a:prstGeom>
        </p:spPr>
      </p:pic>
      <p:sp>
        <p:nvSpPr>
          <p:cNvPr id="7" name="TextBox 6">
            <a:extLst>
              <a:ext uri="{FF2B5EF4-FFF2-40B4-BE49-F238E27FC236}">
                <a16:creationId xmlns:a16="http://schemas.microsoft.com/office/drawing/2014/main" id="{A2F583FE-51D9-806A-A1CF-38B49ABAE9FC}"/>
              </a:ext>
            </a:extLst>
          </p:cNvPr>
          <p:cNvSpPr txBox="1"/>
          <p:nvPr/>
        </p:nvSpPr>
        <p:spPr>
          <a:xfrm>
            <a:off x="6096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Wood</a:t>
            </a:r>
          </a:p>
        </p:txBody>
      </p:sp>
      <p:pic>
        <p:nvPicPr>
          <p:cNvPr id="9" name="Picture 8">
            <a:extLst>
              <a:ext uri="{FF2B5EF4-FFF2-40B4-BE49-F238E27FC236}">
                <a16:creationId xmlns:a16="http://schemas.microsoft.com/office/drawing/2014/main" id="{1E80AF31-8D79-1021-BB3D-53B462B63D7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209800" y="2324100"/>
            <a:ext cx="1473200" cy="1473200"/>
          </a:xfrm>
          <a:prstGeom prst="rect">
            <a:avLst/>
          </a:prstGeom>
        </p:spPr>
      </p:pic>
      <p:sp>
        <p:nvSpPr>
          <p:cNvPr id="10" name="TextBox 9">
            <a:extLst>
              <a:ext uri="{FF2B5EF4-FFF2-40B4-BE49-F238E27FC236}">
                <a16:creationId xmlns:a16="http://schemas.microsoft.com/office/drawing/2014/main" id="{45C832F4-1878-69C3-F814-D1C3339076C0}"/>
              </a:ext>
            </a:extLst>
          </p:cNvPr>
          <p:cNvSpPr txBox="1"/>
          <p:nvPr/>
        </p:nvSpPr>
        <p:spPr>
          <a:xfrm>
            <a:off x="22098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Metal</a:t>
            </a:r>
          </a:p>
        </p:txBody>
      </p:sp>
      <p:pic>
        <p:nvPicPr>
          <p:cNvPr id="12" name="Picture 11">
            <a:extLst>
              <a:ext uri="{FF2B5EF4-FFF2-40B4-BE49-F238E27FC236}">
                <a16:creationId xmlns:a16="http://schemas.microsoft.com/office/drawing/2014/main" id="{D6BC70BA-40A0-5D67-4ED9-6256B26A42F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810000" y="2324100"/>
            <a:ext cx="1473200" cy="1473200"/>
          </a:xfrm>
          <a:prstGeom prst="rect">
            <a:avLst/>
          </a:prstGeom>
        </p:spPr>
      </p:pic>
      <p:sp>
        <p:nvSpPr>
          <p:cNvPr id="13" name="TextBox 12">
            <a:extLst>
              <a:ext uri="{FF2B5EF4-FFF2-40B4-BE49-F238E27FC236}">
                <a16:creationId xmlns:a16="http://schemas.microsoft.com/office/drawing/2014/main" id="{A36934BA-4333-DA9E-1530-A5C2380770B9}"/>
              </a:ext>
            </a:extLst>
          </p:cNvPr>
          <p:cNvSpPr txBox="1"/>
          <p:nvPr/>
        </p:nvSpPr>
        <p:spPr>
          <a:xfrm>
            <a:off x="38100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Stone</a:t>
            </a:r>
          </a:p>
        </p:txBody>
      </p:sp>
      <p:pic>
        <p:nvPicPr>
          <p:cNvPr id="15" name="Picture 14">
            <a:extLst>
              <a:ext uri="{FF2B5EF4-FFF2-40B4-BE49-F238E27FC236}">
                <a16:creationId xmlns:a16="http://schemas.microsoft.com/office/drawing/2014/main" id="{993C9DD1-4BAD-3C03-A233-CE3B8986A67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410200" y="2324100"/>
            <a:ext cx="1473200" cy="1473200"/>
          </a:xfrm>
          <a:prstGeom prst="rect">
            <a:avLst/>
          </a:prstGeom>
        </p:spPr>
      </p:pic>
      <p:sp>
        <p:nvSpPr>
          <p:cNvPr id="16" name="TextBox 15">
            <a:extLst>
              <a:ext uri="{FF2B5EF4-FFF2-40B4-BE49-F238E27FC236}">
                <a16:creationId xmlns:a16="http://schemas.microsoft.com/office/drawing/2014/main" id="{5DAC41E2-FAD2-2064-58B3-BA53C75E5815}"/>
              </a:ext>
            </a:extLst>
          </p:cNvPr>
          <p:cNvSpPr txBox="1"/>
          <p:nvPr/>
        </p:nvSpPr>
        <p:spPr>
          <a:xfrm>
            <a:off x="54102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Concrete</a:t>
            </a:r>
          </a:p>
        </p:txBody>
      </p:sp>
      <p:pic>
        <p:nvPicPr>
          <p:cNvPr id="18" name="Picture 17">
            <a:extLst>
              <a:ext uri="{FF2B5EF4-FFF2-40B4-BE49-F238E27FC236}">
                <a16:creationId xmlns:a16="http://schemas.microsoft.com/office/drawing/2014/main" id="{435131F6-DED0-626F-CBF5-83C19E6C987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7010400" y="2324100"/>
            <a:ext cx="1473200" cy="1473200"/>
          </a:xfrm>
          <a:prstGeom prst="rect">
            <a:avLst/>
          </a:prstGeom>
        </p:spPr>
      </p:pic>
      <p:sp>
        <p:nvSpPr>
          <p:cNvPr id="19" name="TextBox 18">
            <a:extLst>
              <a:ext uri="{FF2B5EF4-FFF2-40B4-BE49-F238E27FC236}">
                <a16:creationId xmlns:a16="http://schemas.microsoft.com/office/drawing/2014/main" id="{8318DEF8-1EDF-9620-DD69-28C2B3ADB3E2}"/>
              </a:ext>
            </a:extLst>
          </p:cNvPr>
          <p:cNvSpPr txBox="1"/>
          <p:nvPr/>
        </p:nvSpPr>
        <p:spPr>
          <a:xfrm>
            <a:off x="70104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Ceramic</a:t>
            </a:r>
          </a:p>
        </p:txBody>
      </p:sp>
      <p:pic>
        <p:nvPicPr>
          <p:cNvPr id="21" name="Picture 20">
            <a:extLst>
              <a:ext uri="{FF2B5EF4-FFF2-40B4-BE49-F238E27FC236}">
                <a16:creationId xmlns:a16="http://schemas.microsoft.com/office/drawing/2014/main" id="{4A8CA349-2546-8812-54D6-25052D668B92}"/>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610600" y="2324100"/>
            <a:ext cx="1473200" cy="1473200"/>
          </a:xfrm>
          <a:prstGeom prst="rect">
            <a:avLst/>
          </a:prstGeom>
        </p:spPr>
      </p:pic>
      <p:sp>
        <p:nvSpPr>
          <p:cNvPr id="22" name="TextBox 21">
            <a:extLst>
              <a:ext uri="{FF2B5EF4-FFF2-40B4-BE49-F238E27FC236}">
                <a16:creationId xmlns:a16="http://schemas.microsoft.com/office/drawing/2014/main" id="{7EA42B8D-D0BE-B23B-FF4B-B608D1D1FD96}"/>
              </a:ext>
            </a:extLst>
          </p:cNvPr>
          <p:cNvSpPr txBox="1"/>
          <p:nvPr/>
        </p:nvSpPr>
        <p:spPr>
          <a:xfrm>
            <a:off x="86106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Fabric</a:t>
            </a:r>
          </a:p>
        </p:txBody>
      </p:sp>
      <p:pic>
        <p:nvPicPr>
          <p:cNvPr id="24" name="Picture 23">
            <a:extLst>
              <a:ext uri="{FF2B5EF4-FFF2-40B4-BE49-F238E27FC236}">
                <a16:creationId xmlns:a16="http://schemas.microsoft.com/office/drawing/2014/main" id="{9321A717-EEC1-9318-D011-D7EF15A3159F}"/>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0210800" y="2324100"/>
            <a:ext cx="1473200" cy="1473200"/>
          </a:xfrm>
          <a:prstGeom prst="rect">
            <a:avLst/>
          </a:prstGeom>
        </p:spPr>
      </p:pic>
      <p:sp>
        <p:nvSpPr>
          <p:cNvPr id="25" name="TextBox 24">
            <a:extLst>
              <a:ext uri="{FF2B5EF4-FFF2-40B4-BE49-F238E27FC236}">
                <a16:creationId xmlns:a16="http://schemas.microsoft.com/office/drawing/2014/main" id="{856D42EB-EBBB-9E13-66F8-3E7E7910CCB7}"/>
              </a:ext>
            </a:extLst>
          </p:cNvPr>
          <p:cNvSpPr txBox="1"/>
          <p:nvPr/>
        </p:nvSpPr>
        <p:spPr>
          <a:xfrm>
            <a:off x="10210800" y="3975099"/>
            <a:ext cx="1524000" cy="3429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Leather</a:t>
            </a:r>
          </a:p>
        </p:txBody>
      </p:sp>
      <p:sp>
        <p:nvSpPr>
          <p:cNvPr id="26" name="TextBox 25">
            <a:extLst>
              <a:ext uri="{FF2B5EF4-FFF2-40B4-BE49-F238E27FC236}">
                <a16:creationId xmlns:a16="http://schemas.microsoft.com/office/drawing/2014/main" id="{42F172B3-FE68-8946-6527-41639357D708}"/>
              </a:ext>
            </a:extLst>
          </p:cNvPr>
          <p:cNvSpPr txBox="1"/>
          <p:nvPr/>
        </p:nvSpPr>
        <p:spPr>
          <a:xfrm>
            <a:off x="609600" y="4889499"/>
            <a:ext cx="10160000" cy="431800"/>
          </a:xfrm>
          <a:prstGeom prst="rect">
            <a:avLst/>
          </a:prstGeom>
          <a:noFill/>
        </p:spPr>
        <p:txBody>
          <a:bodyPr vert="horz" wrap="square" lIns="0" tIns="0" rIns="0" bIns="0" rtlCol="0">
            <a:noAutofit/>
          </a:bodyPr>
          <a:lstStyle/>
          <a:p>
            <a:pPr>
              <a:spcAft>
                <a:spcPts val="600"/>
              </a:spcAft>
            </a:pPr>
            <a:r>
              <a:rPr lang="en-US" sz="2600" b="1">
                <a:solidFill>
                  <a:srgbClr val="20364A"/>
                </a:solidFill>
                <a:latin typeface="Aptos" panose="020B0004020202020204" pitchFamily="34" charset="0"/>
              </a:rPr>
              <a:t>One RGB image, one label</a:t>
            </a:r>
            <a:endParaRPr lang="en-ZA" sz="2600" b="1">
              <a:solidFill>
                <a:srgbClr val="20364A"/>
              </a:solidFill>
              <a:latin typeface="Aptos" panose="020B0004020202020204" pitchFamily="34" charset="0"/>
            </a:endParaRPr>
          </a:p>
        </p:txBody>
      </p:sp>
      <p:sp>
        <p:nvSpPr>
          <p:cNvPr id="27" name="TextBox 26">
            <a:extLst>
              <a:ext uri="{FF2B5EF4-FFF2-40B4-BE49-F238E27FC236}">
                <a16:creationId xmlns:a16="http://schemas.microsoft.com/office/drawing/2014/main" id="{FF1E3068-A7C1-42C2-51F0-9C76AA25D88C}"/>
              </a:ext>
            </a:extLst>
          </p:cNvPr>
          <p:cNvSpPr txBox="1"/>
          <p:nvPr/>
        </p:nvSpPr>
        <p:spPr>
          <a:xfrm>
            <a:off x="609600" y="5486399"/>
            <a:ext cx="10922000" cy="508000"/>
          </a:xfrm>
          <a:prstGeom prst="rect">
            <a:avLst/>
          </a:prstGeom>
          <a:noFill/>
        </p:spPr>
        <p:txBody>
          <a:bodyPr vert="horz" wrap="square" lIns="0" tIns="0" rIns="0" bIns="0" rtlCol="0">
            <a:noAutofit/>
          </a:bodyPr>
          <a:lstStyle/>
          <a:p>
            <a:pPr>
              <a:spcAft>
                <a:spcPts val="600"/>
              </a:spcAft>
            </a:pPr>
            <a:r>
              <a:rPr lang="en-US" sz="2000">
                <a:solidFill>
                  <a:srgbClr val="20364A"/>
                </a:solidFill>
                <a:latin typeface="Aptos" panose="020B0004020202020204" pitchFamily="34" charset="0"/>
              </a:rPr>
              <a:t>Appearance categories do not establish physical composition.</a:t>
            </a:r>
            <a:endParaRPr lang="en-ZA" sz="2000">
              <a:solidFill>
                <a:srgbClr val="20364A"/>
              </a:solidFill>
              <a:latin typeface="Aptos" panose="020B0004020202020204" pitchFamily="34" charset="0"/>
            </a:endParaRPr>
          </a:p>
        </p:txBody>
      </p:sp>
    </p:spTree>
    <p:extLst>
      <p:ext uri="{BB962C8B-B14F-4D97-AF65-F5344CB8AC3E}">
        <p14:creationId xmlns:p14="http://schemas.microsoft.com/office/powerpoint/2010/main" val="277736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8F27B7-20ED-8D0C-ABB4-E9C26FC9AF4C}"/>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Dataset provenance and group separation</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31029E97-E770-20AF-FAE7-CDB137B6160D}"/>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3</a:t>
            </a:r>
          </a:p>
        </p:txBody>
      </p:sp>
      <p:graphicFrame>
        <p:nvGraphicFramePr>
          <p:cNvPr id="4" name="Table 3">
            <a:extLst>
              <a:ext uri="{FF2B5EF4-FFF2-40B4-BE49-F238E27FC236}">
                <a16:creationId xmlns:a16="http://schemas.microsoft.com/office/drawing/2014/main" id="{36E25969-A32A-012F-D8D9-1916D6490C1B}"/>
              </a:ext>
            </a:extLst>
          </p:cNvPr>
          <p:cNvGraphicFramePr>
            <a:graphicFrameLocks noGrp="1"/>
          </p:cNvGraphicFramePr>
          <p:nvPr>
            <p:extLst>
              <p:ext uri="{D42A27DB-BD31-4B8C-83A1-F6EECF244321}">
                <p14:modId xmlns:p14="http://schemas.microsoft.com/office/powerpoint/2010/main" val="214777138"/>
              </p:ext>
            </p:extLst>
          </p:nvPr>
        </p:nvGraphicFramePr>
        <p:xfrm>
          <a:off x="609600" y="1460500"/>
          <a:ext cx="10972800" cy="2032000"/>
        </p:xfrm>
        <a:graphic>
          <a:graphicData uri="http://schemas.openxmlformats.org/drawingml/2006/table">
            <a:tbl>
              <a:tblPr firstRow="1" bandRow="1">
                <a:tableStyleId>{5C22544A-7EE6-4342-B048-85BDC9FD1C3A}</a:tableStyleId>
              </a:tblPr>
              <a:tblGrid>
                <a:gridCol w="3621024">
                  <a:extLst>
                    <a:ext uri="{9D8B030D-6E8A-4147-A177-3AD203B41FA5}">
                      <a16:colId xmlns:a16="http://schemas.microsoft.com/office/drawing/2014/main" val="2783823124"/>
                    </a:ext>
                  </a:extLst>
                </a:gridCol>
                <a:gridCol w="2194560">
                  <a:extLst>
                    <a:ext uri="{9D8B030D-6E8A-4147-A177-3AD203B41FA5}">
                      <a16:colId xmlns:a16="http://schemas.microsoft.com/office/drawing/2014/main" val="817821319"/>
                    </a:ext>
                  </a:extLst>
                </a:gridCol>
                <a:gridCol w="2523744">
                  <a:extLst>
                    <a:ext uri="{9D8B030D-6E8A-4147-A177-3AD203B41FA5}">
                      <a16:colId xmlns:a16="http://schemas.microsoft.com/office/drawing/2014/main" val="1551817629"/>
                    </a:ext>
                  </a:extLst>
                </a:gridCol>
                <a:gridCol w="2633472">
                  <a:extLst>
                    <a:ext uri="{9D8B030D-6E8A-4147-A177-3AD203B41FA5}">
                      <a16:colId xmlns:a16="http://schemas.microsoft.com/office/drawing/2014/main" val="3437956118"/>
                    </a:ext>
                  </a:extLst>
                </a:gridCol>
              </a:tblGrid>
              <a:tr h="677333">
                <a:tc>
                  <a:txBody>
                    <a:bodyPr/>
                    <a:lstStyle/>
                    <a:p>
                      <a:r>
                        <a:rPr lang="en-ZA" sz="2100" b="1">
                          <a:solidFill>
                            <a:srgbClr val="FFFFFF"/>
                          </a:solidFill>
                          <a:latin typeface="Aptos" panose="020B0004020202020204" pitchFamily="34" charset="0"/>
                        </a:rPr>
                        <a:t>Population</a:t>
                      </a:r>
                    </a:p>
                  </a:txBody>
                  <a:tcPr marL="101600" marR="63500" marT="50800" marB="38100" anchor="ctr">
                    <a:solidFill>
                      <a:srgbClr val="20364A"/>
                    </a:solidFill>
                  </a:tcPr>
                </a:tc>
                <a:tc>
                  <a:txBody>
                    <a:bodyPr/>
                    <a:lstStyle/>
                    <a:p>
                      <a:r>
                        <a:rPr lang="en-ZA" sz="2100" b="1">
                          <a:solidFill>
                            <a:srgbClr val="FFFFFF"/>
                          </a:solidFill>
                          <a:latin typeface="Aptos" panose="020B0004020202020204" pitchFamily="34" charset="0"/>
                        </a:rPr>
                        <a:t>Images</a:t>
                      </a:r>
                    </a:p>
                  </a:txBody>
                  <a:tcPr marL="101600" marR="63500" marT="50800" marB="38100" anchor="ctr">
                    <a:solidFill>
                      <a:srgbClr val="20364A"/>
                    </a:solidFill>
                  </a:tcPr>
                </a:tc>
                <a:tc>
                  <a:txBody>
                    <a:bodyPr/>
                    <a:lstStyle/>
                    <a:p>
                      <a:r>
                        <a:rPr lang="en-ZA" sz="2100" b="1">
                          <a:solidFill>
                            <a:srgbClr val="FFFFFF"/>
                          </a:solidFill>
                          <a:latin typeface="Aptos" panose="020B0004020202020204" pitchFamily="34" charset="0"/>
                        </a:rPr>
                        <a:t>Material IDs</a:t>
                      </a:r>
                    </a:p>
                  </a:txBody>
                  <a:tcPr marL="101600" marR="63500" marT="50800" marB="38100" anchor="ctr">
                    <a:solidFill>
                      <a:srgbClr val="20364A"/>
                    </a:solidFill>
                  </a:tcPr>
                </a:tc>
                <a:tc>
                  <a:txBody>
                    <a:bodyPr/>
                    <a:lstStyle/>
                    <a:p>
                      <a:r>
                        <a:rPr lang="en-ZA" sz="2100" b="1">
                          <a:solidFill>
                            <a:srgbClr val="FFFFFF"/>
                          </a:solidFill>
                          <a:latin typeface="Aptos" panose="020B0004020202020204" pitchFamily="34" charset="0"/>
                        </a:rPr>
                        <a:t>Source groups</a:t>
                      </a:r>
                    </a:p>
                  </a:txBody>
                  <a:tcPr marL="101600" marR="63500" marT="50800" marB="38100" anchor="ctr">
                    <a:solidFill>
                      <a:srgbClr val="20364A"/>
                    </a:solidFill>
                  </a:tcPr>
                </a:tc>
                <a:extLst>
                  <a:ext uri="{0D108BD9-81ED-4DB2-BD59-A6C34878D82A}">
                    <a16:rowId xmlns:a16="http://schemas.microsoft.com/office/drawing/2014/main" val="2835764962"/>
                  </a:ext>
                </a:extLst>
              </a:tr>
              <a:tr h="677333">
                <a:tc>
                  <a:txBody>
                    <a:bodyPr/>
                    <a:lstStyle/>
                    <a:p>
                      <a:r>
                        <a:rPr lang="en-ZA" sz="2100" b="0">
                          <a:solidFill>
                            <a:srgbClr val="20364A"/>
                          </a:solidFill>
                          <a:latin typeface="Aptos" panose="020B0004020202020204" pitchFamily="34" charset="0"/>
                        </a:rPr>
                        <a:t>Development</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3,150</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105</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101</a:t>
                      </a:r>
                    </a:p>
                  </a:txBody>
                  <a:tcPr marL="101600" marR="63500" marT="50800" marB="38100" anchor="ctr">
                    <a:solidFill>
                      <a:srgbClr val="EDF3F5"/>
                    </a:solidFill>
                  </a:tcPr>
                </a:tc>
                <a:extLst>
                  <a:ext uri="{0D108BD9-81ED-4DB2-BD59-A6C34878D82A}">
                    <a16:rowId xmlns:a16="http://schemas.microsoft.com/office/drawing/2014/main" val="1853394338"/>
                  </a:ext>
                </a:extLst>
              </a:tr>
              <a:tr h="677333">
                <a:tc>
                  <a:txBody>
                    <a:bodyPr/>
                    <a:lstStyle/>
                    <a:p>
                      <a:r>
                        <a:rPr lang="en-ZA" sz="2100" b="0">
                          <a:solidFill>
                            <a:srgbClr val="20364A"/>
                          </a:solidFill>
                          <a:latin typeface="Aptos" panose="020B0004020202020204" pitchFamily="34" charset="0"/>
                        </a:rPr>
                        <a:t>Fresh test</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630</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21</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21</a:t>
                      </a:r>
                    </a:p>
                  </a:txBody>
                  <a:tcPr marL="101600" marR="63500" marT="50800" marB="38100" anchor="ctr">
                    <a:solidFill>
                      <a:srgbClr val="FFFFFF"/>
                    </a:solidFill>
                  </a:tcPr>
                </a:tc>
                <a:extLst>
                  <a:ext uri="{0D108BD9-81ED-4DB2-BD59-A6C34878D82A}">
                    <a16:rowId xmlns:a16="http://schemas.microsoft.com/office/drawing/2014/main" val="2012478497"/>
                  </a:ext>
                </a:extLst>
              </a:tr>
            </a:tbl>
          </a:graphicData>
        </a:graphic>
      </p:graphicFrame>
      <p:sp>
        <p:nvSpPr>
          <p:cNvPr id="5" name="TextBox 4">
            <a:extLst>
              <a:ext uri="{FF2B5EF4-FFF2-40B4-BE49-F238E27FC236}">
                <a16:creationId xmlns:a16="http://schemas.microsoft.com/office/drawing/2014/main" id="{B80D6F52-44AF-A99C-AF78-8677CA57B5DA}"/>
              </a:ext>
            </a:extLst>
          </p:cNvPr>
          <p:cNvSpPr txBox="1"/>
          <p:nvPr/>
        </p:nvSpPr>
        <p:spPr>
          <a:xfrm>
            <a:off x="609600" y="3759199"/>
            <a:ext cx="10972800" cy="571500"/>
          </a:xfrm>
          <a:prstGeom prst="rect">
            <a:avLst/>
          </a:prstGeom>
          <a:noFill/>
        </p:spPr>
        <p:txBody>
          <a:bodyPr vert="horz" wrap="square" lIns="0" tIns="0" rIns="0" bIns="0" rtlCol="0">
            <a:noAutofit/>
          </a:bodyPr>
          <a:lstStyle/>
          <a:p>
            <a:pPr>
              <a:spcAft>
                <a:spcPts val="600"/>
              </a:spcAft>
            </a:pPr>
            <a:r>
              <a:rPr lang="en-US" sz="2000">
                <a:solidFill>
                  <a:srgbClr val="20364A"/>
                </a:solidFill>
                <a:latin typeface="Aptos" panose="020B0004020202020204" pitchFamily="34" charset="0"/>
              </a:rPr>
              <a:t>30 views per material. Each class has 450 development + 90 test images.</a:t>
            </a:r>
            <a:endParaRPr lang="en-ZA" sz="2000">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B8DBDCE4-8418-5B8A-8CBF-D160F955F438}"/>
              </a:ext>
            </a:extLst>
          </p:cNvPr>
          <p:cNvSpPr txBox="1"/>
          <p:nvPr/>
        </p:nvSpPr>
        <p:spPr>
          <a:xfrm>
            <a:off x="609600" y="4546599"/>
            <a:ext cx="10972800" cy="927100"/>
          </a:xfrm>
          <a:prstGeom prst="rect">
            <a:avLst/>
          </a:prstGeom>
          <a:noFill/>
        </p:spPr>
        <p:txBody>
          <a:bodyPr vert="horz" wrap="square" lIns="0" tIns="0" rIns="0" bIns="0" rtlCol="0">
            <a:noAutofit/>
          </a:bodyPr>
          <a:lstStyle/>
          <a:p>
            <a:pPr>
              <a:spcAft>
                <a:spcPts val="600"/>
              </a:spcAft>
            </a:pPr>
            <a:r>
              <a:rPr lang="en-US" sz="2300">
                <a:solidFill>
                  <a:srgbClr val="20364A"/>
                </a:solidFill>
                <a:latin typeface="Aptos" panose="020B0004020202020204" pitchFamily="34" charset="0"/>
              </a:rPr>
              <a:t>Poly Haven + ambientCG CC0 texture assets
Scanned and procedural sources rendered in Blender</a:t>
            </a:r>
            <a:endParaRPr lang="en-ZA" sz="2300">
              <a:solidFill>
                <a:srgbClr val="20364A"/>
              </a:solidFill>
              <a:latin typeface="Aptos" panose="020B0004020202020204" pitchFamily="34" charset="0"/>
            </a:endParaRPr>
          </a:p>
        </p:txBody>
      </p:sp>
      <p:sp>
        <p:nvSpPr>
          <p:cNvPr id="7" name="TextBox 6">
            <a:extLst>
              <a:ext uri="{FF2B5EF4-FFF2-40B4-BE49-F238E27FC236}">
                <a16:creationId xmlns:a16="http://schemas.microsoft.com/office/drawing/2014/main" id="{20F57580-732B-DCDA-456F-484ACBC952BC}"/>
              </a:ext>
            </a:extLst>
          </p:cNvPr>
          <p:cNvSpPr txBox="1"/>
          <p:nvPr/>
        </p:nvSpPr>
        <p:spPr>
          <a:xfrm>
            <a:off x="609600" y="5791199"/>
            <a:ext cx="10972800" cy="508000"/>
          </a:xfrm>
          <a:prstGeom prst="rect">
            <a:avLst/>
          </a:prstGeom>
          <a:noFill/>
        </p:spPr>
        <p:txBody>
          <a:bodyPr vert="horz" wrap="square" lIns="0" tIns="0" rIns="0" bIns="0" rtlCol="0">
            <a:noAutofit/>
          </a:bodyPr>
          <a:lstStyle/>
          <a:p>
            <a:pPr>
              <a:spcAft>
                <a:spcPts val="600"/>
              </a:spcAft>
            </a:pPr>
            <a:r>
              <a:rPr lang="en-US" sz="1900">
                <a:solidFill>
                  <a:srgbClr val="A25524"/>
                </a:solidFill>
                <a:latin typeface="Aptos" panose="020B0004020202020204" pitchFamily="34" charset="0"/>
              </a:rPr>
              <a:t>Known relatives stay together. Unknown physical ancestry remains a caveat.</a:t>
            </a:r>
            <a:endParaRPr lang="en-ZA" sz="1900">
              <a:solidFill>
                <a:srgbClr val="A25524"/>
              </a:solidFill>
              <a:latin typeface="Aptos" panose="020B0004020202020204" pitchFamily="34" charset="0"/>
            </a:endParaRPr>
          </a:p>
        </p:txBody>
      </p:sp>
    </p:spTree>
    <p:extLst>
      <p:ext uri="{BB962C8B-B14F-4D97-AF65-F5344CB8AC3E}">
        <p14:creationId xmlns:p14="http://schemas.microsoft.com/office/powerpoint/2010/main" val="110300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580ED6-B912-25CB-EB5D-9769A2B053D1}"/>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Three model families, four pipelines</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0E694AFF-A951-814D-3E96-0C02DBD5A537}"/>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4</a:t>
            </a:r>
          </a:p>
        </p:txBody>
      </p:sp>
      <p:graphicFrame>
        <p:nvGraphicFramePr>
          <p:cNvPr id="4" name="Table 3">
            <a:extLst>
              <a:ext uri="{FF2B5EF4-FFF2-40B4-BE49-F238E27FC236}">
                <a16:creationId xmlns:a16="http://schemas.microsoft.com/office/drawing/2014/main" id="{6ECCDD52-83EF-568A-4EDC-5813F69A341B}"/>
              </a:ext>
            </a:extLst>
          </p:cNvPr>
          <p:cNvGraphicFramePr>
            <a:graphicFrameLocks noGrp="1"/>
          </p:cNvGraphicFramePr>
          <p:nvPr>
            <p:extLst>
              <p:ext uri="{D42A27DB-BD31-4B8C-83A1-F6EECF244321}">
                <p14:modId xmlns:p14="http://schemas.microsoft.com/office/powerpoint/2010/main" val="2413039913"/>
              </p:ext>
            </p:extLst>
          </p:nvPr>
        </p:nvGraphicFramePr>
        <p:xfrm>
          <a:off x="609600" y="1422400"/>
          <a:ext cx="10972800" cy="4089400"/>
        </p:xfrm>
        <a:graphic>
          <a:graphicData uri="http://schemas.openxmlformats.org/drawingml/2006/table">
            <a:tbl>
              <a:tblPr firstRow="1" bandRow="1">
                <a:tableStyleId>{5C22544A-7EE6-4342-B048-85BDC9FD1C3A}</a:tableStyleId>
              </a:tblPr>
              <a:tblGrid>
                <a:gridCol w="3072384">
                  <a:extLst>
                    <a:ext uri="{9D8B030D-6E8A-4147-A177-3AD203B41FA5}">
                      <a16:colId xmlns:a16="http://schemas.microsoft.com/office/drawing/2014/main" val="4130436064"/>
                    </a:ext>
                  </a:extLst>
                </a:gridCol>
                <a:gridCol w="5925312">
                  <a:extLst>
                    <a:ext uri="{9D8B030D-6E8A-4147-A177-3AD203B41FA5}">
                      <a16:colId xmlns:a16="http://schemas.microsoft.com/office/drawing/2014/main" val="1820903681"/>
                    </a:ext>
                  </a:extLst>
                </a:gridCol>
                <a:gridCol w="1975104">
                  <a:extLst>
                    <a:ext uri="{9D8B030D-6E8A-4147-A177-3AD203B41FA5}">
                      <a16:colId xmlns:a16="http://schemas.microsoft.com/office/drawing/2014/main" val="2446637768"/>
                    </a:ext>
                  </a:extLst>
                </a:gridCol>
              </a:tblGrid>
              <a:tr h="817880">
                <a:tc>
                  <a:txBody>
                    <a:bodyPr/>
                    <a:lstStyle/>
                    <a:p>
                      <a:r>
                        <a:rPr lang="en-ZA" sz="1900" b="1">
                          <a:solidFill>
                            <a:srgbClr val="FFFFFF"/>
                          </a:solidFill>
                          <a:latin typeface="Aptos" panose="020B0004020202020204" pitchFamily="34" charset="0"/>
                        </a:rPr>
                        <a:t>Pipeline</a:t>
                      </a:r>
                    </a:p>
                  </a:txBody>
                  <a:tcPr marL="101600" marR="63500" marT="50800" marB="38100" anchor="ctr">
                    <a:solidFill>
                      <a:srgbClr val="20364A"/>
                    </a:solidFill>
                  </a:tcPr>
                </a:tc>
                <a:tc>
                  <a:txBody>
                    <a:bodyPr/>
                    <a:lstStyle/>
                    <a:p>
                      <a:r>
                        <a:rPr lang="en-ZA" sz="1900" b="1">
                          <a:solidFill>
                            <a:srgbClr val="FFFFFF"/>
                          </a:solidFill>
                          <a:latin typeface="Aptos" panose="020B0004020202020204" pitchFamily="34" charset="0"/>
                        </a:rPr>
                        <a:t>Transfer learning</a:t>
                      </a:r>
                    </a:p>
                  </a:txBody>
                  <a:tcPr marL="101600" marR="63500" marT="50800" marB="38100" anchor="ctr">
                    <a:solidFill>
                      <a:srgbClr val="20364A"/>
                    </a:solidFill>
                  </a:tcPr>
                </a:tc>
                <a:tc>
                  <a:txBody>
                    <a:bodyPr/>
                    <a:lstStyle/>
                    <a:p>
                      <a:r>
                        <a:rPr lang="en-ZA" sz="1900" b="1">
                          <a:solidFill>
                            <a:srgbClr val="FFFFFF"/>
                          </a:solidFill>
                          <a:latin typeface="Aptos" panose="020B0004020202020204" pitchFamily="34" charset="0"/>
                        </a:rPr>
                        <a:t>Input</a:t>
                      </a:r>
                    </a:p>
                  </a:txBody>
                  <a:tcPr marL="101600" marR="63500" marT="50800" marB="38100" anchor="ctr">
                    <a:solidFill>
                      <a:srgbClr val="20364A"/>
                    </a:solidFill>
                  </a:tcPr>
                </a:tc>
                <a:extLst>
                  <a:ext uri="{0D108BD9-81ED-4DB2-BD59-A6C34878D82A}">
                    <a16:rowId xmlns:a16="http://schemas.microsoft.com/office/drawing/2014/main" val="893926383"/>
                  </a:ext>
                </a:extLst>
              </a:tr>
              <a:tr h="817880">
                <a:tc>
                  <a:txBody>
                    <a:bodyPr/>
                    <a:lstStyle/>
                    <a:p>
                      <a:r>
                        <a:rPr lang="en-ZA" sz="1900" b="0">
                          <a:solidFill>
                            <a:srgbClr val="20364A"/>
                          </a:solidFill>
                          <a:latin typeface="Aptos" panose="020B0004020202020204" pitchFamily="34" charset="0"/>
                        </a:rPr>
                        <a:t>Primary fusion</a:t>
                      </a:r>
                    </a:p>
                  </a:txBody>
                  <a:tcPr marL="101600" marR="63500" marT="50800" marB="38100" anchor="ctr">
                    <a:solidFill>
                      <a:srgbClr val="EDF3F5"/>
                    </a:solidFill>
                  </a:tcPr>
                </a:tc>
                <a:tc>
                  <a:txBody>
                    <a:bodyPr/>
                    <a:lstStyle/>
                    <a:p>
                      <a:r>
                        <a:rPr lang="en-US" sz="1900" b="0">
                          <a:solidFill>
                            <a:srgbClr val="20364A"/>
                          </a:solidFill>
                          <a:latin typeface="Aptos" panose="020B0004020202020204" pitchFamily="34" charset="0"/>
                        </a:rPr>
                        <a:t>Frozen DINOv2 + ConvNeXt
3,072 features, logistic head</a:t>
                      </a:r>
                      <a:endParaRPr lang="en-ZA" sz="1900" b="0">
                        <a:solidFill>
                          <a:srgbClr val="20364A"/>
                        </a:solidFill>
                        <a:latin typeface="Aptos" panose="020B0004020202020204" pitchFamily="34" charset="0"/>
                      </a:endParaRPr>
                    </a:p>
                  </a:txBody>
                  <a:tcPr marL="101600" marR="63500" marT="50800" marB="38100" anchor="ctr">
                    <a:solidFill>
                      <a:srgbClr val="EDF3F5"/>
                    </a:solidFill>
                  </a:tcPr>
                </a:tc>
                <a:tc>
                  <a:txBody>
                    <a:bodyPr/>
                    <a:lstStyle/>
                    <a:p>
                      <a:r>
                        <a:rPr lang="en-ZA" sz="1900" b="0">
                          <a:solidFill>
                            <a:srgbClr val="20364A"/>
                          </a:solidFill>
                          <a:latin typeface="Aptos" panose="020B0004020202020204" pitchFamily="34" charset="0"/>
                        </a:rPr>
                        <a:t>224 + 336</a:t>
                      </a:r>
                    </a:p>
                  </a:txBody>
                  <a:tcPr marL="101600" marR="63500" marT="50800" marB="38100" anchor="ctr">
                    <a:solidFill>
                      <a:srgbClr val="EDF3F5"/>
                    </a:solidFill>
                  </a:tcPr>
                </a:tc>
                <a:extLst>
                  <a:ext uri="{0D108BD9-81ED-4DB2-BD59-A6C34878D82A}">
                    <a16:rowId xmlns:a16="http://schemas.microsoft.com/office/drawing/2014/main" val="989503882"/>
                  </a:ext>
                </a:extLst>
              </a:tr>
              <a:tr h="817880">
                <a:tc>
                  <a:txBody>
                    <a:bodyPr/>
                    <a:lstStyle/>
                    <a:p>
                      <a:r>
                        <a:rPr lang="en-ZA" sz="1900" b="0">
                          <a:solidFill>
                            <a:srgbClr val="20364A"/>
                          </a:solidFill>
                          <a:latin typeface="Aptos" panose="020B0004020202020204" pitchFamily="34" charset="0"/>
                        </a:rPr>
                        <a:t>ConvNeXt control</a:t>
                      </a:r>
                    </a:p>
                  </a:txBody>
                  <a:tcPr marL="101600" marR="63500" marT="50800" marB="38100" anchor="ctr">
                    <a:solidFill>
                      <a:srgbClr val="FFFFFF"/>
                    </a:solidFill>
                  </a:tcPr>
                </a:tc>
                <a:tc>
                  <a:txBody>
                    <a:bodyPr/>
                    <a:lstStyle/>
                    <a:p>
                      <a:r>
                        <a:rPr lang="en-ZA" sz="1900" b="0">
                          <a:solidFill>
                            <a:srgbClr val="20364A"/>
                          </a:solidFill>
                          <a:latin typeface="Aptos" panose="020B0004020202020204" pitchFamily="34" charset="0"/>
                        </a:rPr>
                        <a:t>Frozen ConvNeXt-Tiny
Logistic head</a:t>
                      </a:r>
                    </a:p>
                  </a:txBody>
                  <a:tcPr marL="101600" marR="63500" marT="50800" marB="38100" anchor="ctr">
                    <a:solidFill>
                      <a:srgbClr val="FFFFFF"/>
                    </a:solidFill>
                  </a:tcPr>
                </a:tc>
                <a:tc>
                  <a:txBody>
                    <a:bodyPr/>
                    <a:lstStyle/>
                    <a:p>
                      <a:r>
                        <a:rPr lang="en-ZA" sz="1900" b="0">
                          <a:solidFill>
                            <a:srgbClr val="20364A"/>
                          </a:solidFill>
                          <a:latin typeface="Aptos" panose="020B0004020202020204" pitchFamily="34" charset="0"/>
                        </a:rPr>
                        <a:t>224</a:t>
                      </a:r>
                    </a:p>
                  </a:txBody>
                  <a:tcPr marL="101600" marR="63500" marT="50800" marB="38100" anchor="ctr">
                    <a:solidFill>
                      <a:srgbClr val="FFFFFF"/>
                    </a:solidFill>
                  </a:tcPr>
                </a:tc>
                <a:extLst>
                  <a:ext uri="{0D108BD9-81ED-4DB2-BD59-A6C34878D82A}">
                    <a16:rowId xmlns:a16="http://schemas.microsoft.com/office/drawing/2014/main" val="1571900532"/>
                  </a:ext>
                </a:extLst>
              </a:tr>
              <a:tr h="817880">
                <a:tc>
                  <a:txBody>
                    <a:bodyPr/>
                    <a:lstStyle/>
                    <a:p>
                      <a:r>
                        <a:rPr lang="en-ZA" sz="1900" b="0">
                          <a:solidFill>
                            <a:srgbClr val="20364A"/>
                          </a:solidFill>
                          <a:latin typeface="Aptos" panose="020B0004020202020204" pitchFamily="34" charset="0"/>
                        </a:rPr>
                        <a:t>Fixed ResNet-50</a:t>
                      </a:r>
                    </a:p>
                  </a:txBody>
                  <a:tcPr marL="101600" marR="63500" marT="50800" marB="38100" anchor="ctr">
                    <a:solidFill>
                      <a:srgbClr val="EDF3F5"/>
                    </a:solidFill>
                  </a:tcPr>
                </a:tc>
                <a:tc>
                  <a:txBody>
                    <a:bodyPr/>
                    <a:lstStyle/>
                    <a:p>
                      <a:r>
                        <a:rPr lang="en-US" sz="1900" b="0">
                          <a:solidFill>
                            <a:srgbClr val="20364A"/>
                          </a:solidFill>
                          <a:latin typeface="Aptos" panose="020B0004020202020204" pitchFamily="34" charset="0"/>
                        </a:rPr>
                        <a:t>ImageNet weights
Adapt layer4 and classifier</a:t>
                      </a:r>
                      <a:endParaRPr lang="en-ZA" sz="1900" b="0">
                        <a:solidFill>
                          <a:srgbClr val="20364A"/>
                        </a:solidFill>
                        <a:latin typeface="Aptos" panose="020B0004020202020204" pitchFamily="34" charset="0"/>
                      </a:endParaRPr>
                    </a:p>
                  </a:txBody>
                  <a:tcPr marL="101600" marR="63500" marT="50800" marB="38100" anchor="ctr">
                    <a:solidFill>
                      <a:srgbClr val="EDF3F5"/>
                    </a:solidFill>
                  </a:tcPr>
                </a:tc>
                <a:tc>
                  <a:txBody>
                    <a:bodyPr/>
                    <a:lstStyle/>
                    <a:p>
                      <a:r>
                        <a:rPr lang="en-ZA" sz="1900" b="0">
                          <a:solidFill>
                            <a:srgbClr val="20364A"/>
                          </a:solidFill>
                          <a:latin typeface="Aptos" panose="020B0004020202020204" pitchFamily="34" charset="0"/>
                        </a:rPr>
                        <a:t>224</a:t>
                      </a:r>
                    </a:p>
                  </a:txBody>
                  <a:tcPr marL="101600" marR="63500" marT="50800" marB="38100" anchor="ctr">
                    <a:solidFill>
                      <a:srgbClr val="EDF3F5"/>
                    </a:solidFill>
                  </a:tcPr>
                </a:tc>
                <a:extLst>
                  <a:ext uri="{0D108BD9-81ED-4DB2-BD59-A6C34878D82A}">
                    <a16:rowId xmlns:a16="http://schemas.microsoft.com/office/drawing/2014/main" val="2675349543"/>
                  </a:ext>
                </a:extLst>
              </a:tr>
              <a:tr h="817880">
                <a:tc>
                  <a:txBody>
                    <a:bodyPr/>
                    <a:lstStyle/>
                    <a:p>
                      <a:r>
                        <a:rPr lang="en-ZA" sz="1900" b="0">
                          <a:solidFill>
                            <a:srgbClr val="20364A"/>
                          </a:solidFill>
                          <a:latin typeface="Aptos" panose="020B0004020202020204" pitchFamily="34" charset="0"/>
                        </a:rPr>
                        <a:t>Fine-tuned DINOv2</a:t>
                      </a:r>
                    </a:p>
                  </a:txBody>
                  <a:tcPr marL="101600" marR="63500" marT="50800" marB="38100" anchor="ctr">
                    <a:solidFill>
                      <a:srgbClr val="FFFFFF"/>
                    </a:solidFill>
                  </a:tcPr>
                </a:tc>
                <a:tc>
                  <a:txBody>
                    <a:bodyPr/>
                    <a:lstStyle/>
                    <a:p>
                      <a:r>
                        <a:rPr lang="en-US" sz="1900" b="0">
                          <a:solidFill>
                            <a:srgbClr val="20364A"/>
                          </a:solidFill>
                          <a:latin typeface="Aptos" panose="020B0004020202020204" pitchFamily="34" charset="0"/>
                        </a:rPr>
                        <a:t>Pretrained ViT-S/14 + registers
Adapt last two blocks and head</a:t>
                      </a:r>
                      <a:endParaRPr lang="en-ZA" sz="1900" b="0">
                        <a:solidFill>
                          <a:srgbClr val="20364A"/>
                        </a:solidFill>
                        <a:latin typeface="Aptos" panose="020B0004020202020204" pitchFamily="34" charset="0"/>
                      </a:endParaRPr>
                    </a:p>
                  </a:txBody>
                  <a:tcPr marL="101600" marR="63500" marT="50800" marB="38100" anchor="ctr">
                    <a:solidFill>
                      <a:srgbClr val="FFFFFF"/>
                    </a:solidFill>
                  </a:tcPr>
                </a:tc>
                <a:tc>
                  <a:txBody>
                    <a:bodyPr/>
                    <a:lstStyle/>
                    <a:p>
                      <a:r>
                        <a:rPr lang="en-ZA" sz="1900" b="0">
                          <a:solidFill>
                            <a:srgbClr val="20364A"/>
                          </a:solidFill>
                          <a:latin typeface="Aptos" panose="020B0004020202020204" pitchFamily="34" charset="0"/>
                        </a:rPr>
                        <a:t>336</a:t>
                      </a:r>
                    </a:p>
                  </a:txBody>
                  <a:tcPr marL="101600" marR="63500" marT="50800" marB="38100" anchor="ctr">
                    <a:solidFill>
                      <a:srgbClr val="FFFFFF"/>
                    </a:solidFill>
                  </a:tcPr>
                </a:tc>
                <a:extLst>
                  <a:ext uri="{0D108BD9-81ED-4DB2-BD59-A6C34878D82A}">
                    <a16:rowId xmlns:a16="http://schemas.microsoft.com/office/drawing/2014/main" val="1469045471"/>
                  </a:ext>
                </a:extLst>
              </a:tr>
            </a:tbl>
          </a:graphicData>
        </a:graphic>
      </p:graphicFrame>
      <p:sp>
        <p:nvSpPr>
          <p:cNvPr id="5" name="TextBox 4">
            <a:extLst>
              <a:ext uri="{FF2B5EF4-FFF2-40B4-BE49-F238E27FC236}">
                <a16:creationId xmlns:a16="http://schemas.microsoft.com/office/drawing/2014/main" id="{25929649-85DF-656F-1233-3B1ABD5CE6A9}"/>
              </a:ext>
            </a:extLst>
          </p:cNvPr>
          <p:cNvSpPr txBox="1"/>
          <p:nvPr/>
        </p:nvSpPr>
        <p:spPr>
          <a:xfrm>
            <a:off x="609600" y="5829299"/>
            <a:ext cx="10922000" cy="533400"/>
          </a:xfrm>
          <a:prstGeom prst="rect">
            <a:avLst/>
          </a:prstGeom>
          <a:noFill/>
        </p:spPr>
        <p:txBody>
          <a:bodyPr vert="horz" wrap="square" lIns="0" tIns="0" rIns="0" bIns="0" rtlCol="0">
            <a:noAutofit/>
          </a:bodyPr>
          <a:lstStyle/>
          <a:p>
            <a:pPr>
              <a:spcAft>
                <a:spcPts val="600"/>
              </a:spcAft>
            </a:pPr>
            <a:r>
              <a:rPr lang="en-US" sz="2000">
                <a:solidFill>
                  <a:srgbClr val="A25524"/>
                </a:solidFill>
                <a:latin typeface="Aptos" panose="020B0004020202020204" pitchFamily="34" charset="0"/>
              </a:rPr>
              <a:t>Architecture, pretraining, resolution and adaptation budgets differ.</a:t>
            </a:r>
            <a:endParaRPr lang="en-ZA" sz="2000">
              <a:solidFill>
                <a:srgbClr val="A25524"/>
              </a:solidFill>
              <a:latin typeface="Aptos" panose="020B0004020202020204" pitchFamily="34" charset="0"/>
            </a:endParaRPr>
          </a:p>
        </p:txBody>
      </p:sp>
    </p:spTree>
    <p:extLst>
      <p:ext uri="{BB962C8B-B14F-4D97-AF65-F5344CB8AC3E}">
        <p14:creationId xmlns:p14="http://schemas.microsoft.com/office/powerpoint/2010/main" val="1087379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91F8C8-7C62-6E2D-9524-47421FF211A0}"/>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Experimental setup</a:t>
            </a:r>
          </a:p>
        </p:txBody>
      </p:sp>
      <p:sp>
        <p:nvSpPr>
          <p:cNvPr id="3" name="TextBox 2">
            <a:extLst>
              <a:ext uri="{FF2B5EF4-FFF2-40B4-BE49-F238E27FC236}">
                <a16:creationId xmlns:a16="http://schemas.microsoft.com/office/drawing/2014/main" id="{05DCBBCF-54C1-807A-428D-88418711D99A}"/>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5</a:t>
            </a:r>
          </a:p>
        </p:txBody>
      </p:sp>
      <p:sp>
        <p:nvSpPr>
          <p:cNvPr id="4" name="TextBox 3">
            <a:extLst>
              <a:ext uri="{FF2B5EF4-FFF2-40B4-BE49-F238E27FC236}">
                <a16:creationId xmlns:a16="http://schemas.microsoft.com/office/drawing/2014/main" id="{E7D30742-167B-A2A1-7783-2A08ED7AF8F3}"/>
              </a:ext>
            </a:extLst>
          </p:cNvPr>
          <p:cNvSpPr txBox="1"/>
          <p:nvPr/>
        </p:nvSpPr>
        <p:spPr>
          <a:xfrm>
            <a:off x="609600" y="1422399"/>
            <a:ext cx="5334000" cy="406400"/>
          </a:xfrm>
          <a:prstGeom prst="rect">
            <a:avLst/>
          </a:prstGeom>
          <a:noFill/>
        </p:spPr>
        <p:txBody>
          <a:bodyPr vert="horz" wrap="square" lIns="0" tIns="0" rIns="0" bIns="0" rtlCol="0">
            <a:noAutofit/>
          </a:bodyPr>
          <a:lstStyle/>
          <a:p>
            <a:pPr>
              <a:spcAft>
                <a:spcPts val="600"/>
              </a:spcAft>
            </a:pPr>
            <a:r>
              <a:rPr lang="en-ZA" sz="2300" b="1">
                <a:solidFill>
                  <a:srgbClr val="20364A"/>
                </a:solidFill>
                <a:latin typeface="Aptos" panose="020B0004020202020204" pitchFamily="34" charset="0"/>
              </a:rPr>
              <a:t>Development and selection</a:t>
            </a:r>
          </a:p>
        </p:txBody>
      </p:sp>
      <p:sp>
        <p:nvSpPr>
          <p:cNvPr id="5" name="TextBox 4">
            <a:extLst>
              <a:ext uri="{FF2B5EF4-FFF2-40B4-BE49-F238E27FC236}">
                <a16:creationId xmlns:a16="http://schemas.microsoft.com/office/drawing/2014/main" id="{E1AC9CB2-75D5-B819-4F3F-F3605A388BFE}"/>
              </a:ext>
            </a:extLst>
          </p:cNvPr>
          <p:cNvSpPr txBox="1"/>
          <p:nvPr/>
        </p:nvSpPr>
        <p:spPr>
          <a:xfrm>
            <a:off x="609600" y="2057399"/>
            <a:ext cx="5397500" cy="2095500"/>
          </a:xfrm>
          <a:prstGeom prst="rect">
            <a:avLst/>
          </a:prstGeom>
          <a:noFill/>
        </p:spPr>
        <p:txBody>
          <a:bodyPr vert="horz" wrap="square" lIns="0" tIns="0" rIns="0" bIns="0" rtlCol="0">
            <a:noAutofit/>
          </a:bodyPr>
          <a:lstStyle/>
          <a:p>
            <a:pPr>
              <a:spcAft>
                <a:spcPts val="600"/>
              </a:spcAft>
            </a:pPr>
            <a:r>
              <a:rPr lang="en-US" sz="2100">
                <a:solidFill>
                  <a:srgbClr val="20364A"/>
                </a:solidFill>
                <a:latin typeface="Aptos" panose="020B0004020202020204" pitchFamily="34" charset="0"/>
              </a:rPr>
              <a:t>5 outer / 3 inner grouped folds
Frozen features + fold-local scaling
Representation and regularisation search
Seed 20261027</a:t>
            </a:r>
            <a:endParaRPr lang="en-ZA" sz="2100">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71F451C1-33DC-1025-F4B6-7D7702B3FB0F}"/>
              </a:ext>
            </a:extLst>
          </p:cNvPr>
          <p:cNvSpPr txBox="1"/>
          <p:nvPr/>
        </p:nvSpPr>
        <p:spPr>
          <a:xfrm>
            <a:off x="6477000" y="1422399"/>
            <a:ext cx="5143500" cy="406400"/>
          </a:xfrm>
          <a:prstGeom prst="rect">
            <a:avLst/>
          </a:prstGeom>
          <a:noFill/>
        </p:spPr>
        <p:txBody>
          <a:bodyPr vert="horz" wrap="square" lIns="0" tIns="0" rIns="0" bIns="0" rtlCol="0">
            <a:noAutofit/>
          </a:bodyPr>
          <a:lstStyle/>
          <a:p>
            <a:pPr>
              <a:spcAft>
                <a:spcPts val="600"/>
              </a:spcAft>
            </a:pPr>
            <a:r>
              <a:rPr lang="en-ZA" sz="2300" b="1">
                <a:solidFill>
                  <a:srgbClr val="20364A"/>
                </a:solidFill>
                <a:latin typeface="Aptos" panose="020B0004020202020204" pitchFamily="34" charset="0"/>
              </a:rPr>
              <a:t>Transfer and preprocessing</a:t>
            </a:r>
          </a:p>
        </p:txBody>
      </p:sp>
      <p:sp>
        <p:nvSpPr>
          <p:cNvPr id="7" name="TextBox 6">
            <a:extLst>
              <a:ext uri="{FF2B5EF4-FFF2-40B4-BE49-F238E27FC236}">
                <a16:creationId xmlns:a16="http://schemas.microsoft.com/office/drawing/2014/main" id="{FDCC20DB-C1C7-E704-2F27-600EA190089D}"/>
              </a:ext>
            </a:extLst>
          </p:cNvPr>
          <p:cNvSpPr txBox="1"/>
          <p:nvPr/>
        </p:nvSpPr>
        <p:spPr>
          <a:xfrm>
            <a:off x="6477000" y="2057399"/>
            <a:ext cx="5105400" cy="2159000"/>
          </a:xfrm>
          <a:prstGeom prst="rect">
            <a:avLst/>
          </a:prstGeom>
          <a:noFill/>
        </p:spPr>
        <p:txBody>
          <a:bodyPr vert="horz" wrap="square" lIns="0" tIns="0" rIns="0" bIns="0" rtlCol="0">
            <a:noAutofit/>
          </a:bodyPr>
          <a:lstStyle/>
          <a:p>
            <a:pPr>
              <a:spcAft>
                <a:spcPts val="600"/>
              </a:spcAft>
            </a:pPr>
            <a:r>
              <a:rPr lang="en-ZA" sz="2000">
                <a:solidFill>
                  <a:srgbClr val="20364A"/>
                </a:solidFill>
                <a:latin typeface="Aptos" panose="020B0004020202020204" pitchFamily="34" charset="0"/>
              </a:rPr>
              <a:t>RGB, resize/crop, pretrained normalisation
Training only: crops, flips, mild colour jitter
ResNet: 10 fixed epochs
DINOv2: bounded search, 5 final epochs</a:t>
            </a:r>
          </a:p>
        </p:txBody>
      </p:sp>
      <p:sp>
        <p:nvSpPr>
          <p:cNvPr id="8" name="TextBox 7">
            <a:extLst>
              <a:ext uri="{FF2B5EF4-FFF2-40B4-BE49-F238E27FC236}">
                <a16:creationId xmlns:a16="http://schemas.microsoft.com/office/drawing/2014/main" id="{D1BD4FD2-AD49-97B2-5E03-17865C71D538}"/>
              </a:ext>
            </a:extLst>
          </p:cNvPr>
          <p:cNvSpPr txBox="1"/>
          <p:nvPr/>
        </p:nvSpPr>
        <p:spPr>
          <a:xfrm>
            <a:off x="609600" y="4737099"/>
            <a:ext cx="10972800" cy="952500"/>
          </a:xfrm>
          <a:prstGeom prst="rect">
            <a:avLst/>
          </a:prstGeom>
          <a:noFill/>
        </p:spPr>
        <p:txBody>
          <a:bodyPr vert="horz" wrap="square" lIns="0" tIns="0" rIns="0" bIns="0" rtlCol="0">
            <a:noAutofit/>
          </a:bodyPr>
          <a:lstStyle/>
          <a:p>
            <a:pPr>
              <a:spcAft>
                <a:spcPts val="600"/>
              </a:spcAft>
            </a:pPr>
            <a:r>
              <a:rPr lang="en-US" sz="2600" b="1">
                <a:solidFill>
                  <a:srgbClr val="20364A"/>
                </a:solidFill>
                <a:latin typeface="Aptos" panose="020B0004020202020204" pitchFamily="34" charset="0"/>
              </a:rPr>
              <a:t>Choose on development data. Lock every model. Evaluate once on the same 630 images.</a:t>
            </a:r>
            <a:endParaRPr lang="en-ZA" sz="2600" b="1">
              <a:solidFill>
                <a:srgbClr val="20364A"/>
              </a:solidFill>
              <a:latin typeface="Aptos" panose="020B0004020202020204" pitchFamily="34" charset="0"/>
            </a:endParaRPr>
          </a:p>
        </p:txBody>
      </p:sp>
      <p:sp>
        <p:nvSpPr>
          <p:cNvPr id="9" name="TextBox 8">
            <a:extLst>
              <a:ext uri="{FF2B5EF4-FFF2-40B4-BE49-F238E27FC236}">
                <a16:creationId xmlns:a16="http://schemas.microsoft.com/office/drawing/2014/main" id="{B7DB259E-833A-225E-B803-7D082272AB2E}"/>
              </a:ext>
            </a:extLst>
          </p:cNvPr>
          <p:cNvSpPr txBox="1"/>
          <p:nvPr/>
        </p:nvSpPr>
        <p:spPr>
          <a:xfrm>
            <a:off x="609600" y="5930899"/>
            <a:ext cx="10972800" cy="469900"/>
          </a:xfrm>
          <a:prstGeom prst="rect">
            <a:avLst/>
          </a:prstGeom>
          <a:noFill/>
        </p:spPr>
        <p:txBody>
          <a:bodyPr vert="horz" wrap="square" lIns="0" tIns="0" rIns="0" bIns="0" rtlCol="0">
            <a:noAutofit/>
          </a:bodyPr>
          <a:lstStyle/>
          <a:p>
            <a:pPr>
              <a:spcAft>
                <a:spcPts val="600"/>
              </a:spcAft>
            </a:pPr>
            <a:r>
              <a:rPr lang="en-US">
                <a:solidFill>
                  <a:srgbClr val="A25524"/>
                </a:solidFill>
                <a:latin typeface="Aptos" panose="020B0004020202020204" pitchFamily="34" charset="0"/>
              </a:rPr>
              <a:t>DINOv2 adaptation is exploratory. Test ranking does not choose the primary.</a:t>
            </a:r>
            <a:endParaRPr lang="en-ZA">
              <a:solidFill>
                <a:srgbClr val="A25524"/>
              </a:solidFill>
              <a:latin typeface="Aptos" panose="020B0004020202020204" pitchFamily="34" charset="0"/>
            </a:endParaRPr>
          </a:p>
        </p:txBody>
      </p:sp>
    </p:spTree>
    <p:extLst>
      <p:ext uri="{BB962C8B-B14F-4D97-AF65-F5344CB8AC3E}">
        <p14:creationId xmlns:p14="http://schemas.microsoft.com/office/powerpoint/2010/main" val="2673318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F149E-8ACA-454D-62E2-C8EA531E365E}"/>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Actual learning curves</a:t>
            </a:r>
          </a:p>
        </p:txBody>
      </p:sp>
      <p:sp>
        <p:nvSpPr>
          <p:cNvPr id="3" name="TextBox 2">
            <a:extLst>
              <a:ext uri="{FF2B5EF4-FFF2-40B4-BE49-F238E27FC236}">
                <a16:creationId xmlns:a16="http://schemas.microsoft.com/office/drawing/2014/main" id="{47A5491E-A9E4-8D64-FD43-716BAE90F1CA}"/>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6</a:t>
            </a:r>
          </a:p>
        </p:txBody>
      </p:sp>
      <p:sp>
        <p:nvSpPr>
          <p:cNvPr id="4" name="TextBox 3">
            <a:extLst>
              <a:ext uri="{FF2B5EF4-FFF2-40B4-BE49-F238E27FC236}">
                <a16:creationId xmlns:a16="http://schemas.microsoft.com/office/drawing/2014/main" id="{6C5DF9A2-CD51-69F9-87CB-E92D38012726}"/>
              </a:ext>
            </a:extLst>
          </p:cNvPr>
          <p:cNvSpPr txBox="1"/>
          <p:nvPr/>
        </p:nvSpPr>
        <p:spPr>
          <a:xfrm>
            <a:off x="609600" y="5626099"/>
            <a:ext cx="10972800" cy="406400"/>
          </a:xfrm>
          <a:prstGeom prst="rect">
            <a:avLst/>
          </a:prstGeom>
          <a:noFill/>
        </p:spPr>
        <p:txBody>
          <a:bodyPr vert="horz" wrap="square" lIns="0" tIns="0" rIns="0" bIns="0" rtlCol="0">
            <a:noAutofit/>
          </a:bodyPr>
          <a:lstStyle/>
          <a:p>
            <a:pPr>
              <a:spcAft>
                <a:spcPts val="600"/>
              </a:spcAft>
            </a:pPr>
            <a:r>
              <a:rPr lang="en-US">
                <a:solidFill>
                  <a:srgbClr val="20364A"/>
                </a:solidFill>
                <a:latin typeface="Aptos" panose="020B0004020202020204" pitchFamily="34" charset="0"/>
              </a:rPr>
              <a:t>DINOv2, selected learning rate 1e-5. Solid: training. Dashed: development validation.</a:t>
            </a:r>
            <a:endParaRPr lang="en-ZA">
              <a:solidFill>
                <a:srgbClr val="20364A"/>
              </a:solidFill>
              <a:latin typeface="Aptos" panose="020B0004020202020204" pitchFamily="34" charset="0"/>
            </a:endParaRPr>
          </a:p>
        </p:txBody>
      </p:sp>
      <p:sp>
        <p:nvSpPr>
          <p:cNvPr id="5" name="TextBox 4">
            <a:extLst>
              <a:ext uri="{FF2B5EF4-FFF2-40B4-BE49-F238E27FC236}">
                <a16:creationId xmlns:a16="http://schemas.microsoft.com/office/drawing/2014/main" id="{44059607-9B1E-0436-B1C5-871E2354FDCC}"/>
              </a:ext>
            </a:extLst>
          </p:cNvPr>
          <p:cNvSpPr txBox="1"/>
          <p:nvPr/>
        </p:nvSpPr>
        <p:spPr>
          <a:xfrm>
            <a:off x="609600" y="6146799"/>
            <a:ext cx="10972800" cy="355600"/>
          </a:xfrm>
          <a:prstGeom prst="rect">
            <a:avLst/>
          </a:prstGeom>
          <a:noFill/>
        </p:spPr>
        <p:txBody>
          <a:bodyPr vert="horz" wrap="square" lIns="0" tIns="0" rIns="0" bIns="0" rtlCol="0">
            <a:noAutofit/>
          </a:bodyPr>
          <a:lstStyle/>
          <a:p>
            <a:pPr>
              <a:spcAft>
                <a:spcPts val="600"/>
              </a:spcAft>
            </a:pPr>
            <a:r>
              <a:rPr lang="en-US" sz="1900" b="1">
                <a:solidFill>
                  <a:srgbClr val="20364A"/>
                </a:solidFill>
                <a:latin typeface="Aptos" panose="020B0004020202020204" pitchFamily="34" charset="0"/>
              </a:rPr>
              <a:t>Training fit improves faster than validation. Fresh test data never set epochs.</a:t>
            </a:r>
            <a:endParaRPr lang="en-ZA" sz="1900" b="1">
              <a:solidFill>
                <a:srgbClr val="20364A"/>
              </a:solidFill>
              <a:latin typeface="Aptos" panose="020B0004020202020204" pitchFamily="34" charset="0"/>
            </a:endParaRPr>
          </a:p>
        </p:txBody>
      </p:sp>
      <p:graphicFrame>
        <p:nvGraphicFramePr>
          <p:cNvPr id="1001" name="Loss"/>
          <p:cNvGraphicFramePr/>
          <p:nvPr/>
        </p:nvGraphicFramePr>
        <p:xfrm>
          <a:off x="508000" y="1587500"/>
          <a:ext cx="5588000" cy="3810000"/>
        </p:xfrm>
        <a:graphic>
          <a:graphicData uri="http://schemas.openxmlformats.org/drawingml/2006/chart">
            <c:chart xmlns:c="http://schemas.openxmlformats.org/drawingml/2006/chart" r:id="rIdChart1"/>
          </a:graphicData>
        </a:graphic>
      </p:graphicFrame>
      <p:graphicFrame>
        <p:nvGraphicFramePr>
          <p:cNvPr id="1002" name="Macro F1"/>
          <p:cNvGraphicFramePr/>
          <p:nvPr/>
        </p:nvGraphicFramePr>
        <p:xfrm>
          <a:off x="6286500" y="1587500"/>
          <a:ext cx="5588000" cy="3810000"/>
        </p:xfrm>
        <a:graphic>
          <a:graphicData uri="http://schemas.openxmlformats.org/drawingml/2006/chart">
            <c:chart xmlns:c="http://schemas.openxmlformats.org/drawingml/2006/chart" r:id="rIdChart2"/>
          </a:graphicData>
        </a:graphic>
      </p:graphicFrame>
    </p:spTree>
    <p:extLst>
      <p:ext uri="{BB962C8B-B14F-4D97-AF65-F5344CB8AC3E}">
        <p14:creationId xmlns:p14="http://schemas.microsoft.com/office/powerpoint/2010/main" val="334851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169434-A7AE-753E-7254-952D3161F0F2}"/>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Clean test results on unseen sources</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FF781638-6315-AEE5-F2C6-A6EDD2516210}"/>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7</a:t>
            </a:r>
          </a:p>
        </p:txBody>
      </p:sp>
      <p:graphicFrame>
        <p:nvGraphicFramePr>
          <p:cNvPr id="4" name="Table 3">
            <a:extLst>
              <a:ext uri="{FF2B5EF4-FFF2-40B4-BE49-F238E27FC236}">
                <a16:creationId xmlns:a16="http://schemas.microsoft.com/office/drawing/2014/main" id="{30BBD84E-D3FA-5685-D8CA-A4A852CC8690}"/>
              </a:ext>
            </a:extLst>
          </p:cNvPr>
          <p:cNvGraphicFramePr>
            <a:graphicFrameLocks noGrp="1"/>
          </p:cNvGraphicFramePr>
          <p:nvPr>
            <p:extLst>
              <p:ext uri="{D42A27DB-BD31-4B8C-83A1-F6EECF244321}">
                <p14:modId xmlns:p14="http://schemas.microsoft.com/office/powerpoint/2010/main" val="649249747"/>
              </p:ext>
            </p:extLst>
          </p:nvPr>
        </p:nvGraphicFramePr>
        <p:xfrm>
          <a:off x="609600" y="1460500"/>
          <a:ext cx="10972800" cy="2895600"/>
        </p:xfrm>
        <a:graphic>
          <a:graphicData uri="http://schemas.openxmlformats.org/drawingml/2006/table">
            <a:tbl>
              <a:tblPr firstRow="1" bandRow="1">
                <a:tableStyleId>{5C22544A-7EE6-4342-B048-85BDC9FD1C3A}</a:tableStyleId>
              </a:tblPr>
              <a:tblGrid>
                <a:gridCol w="3950208">
                  <a:extLst>
                    <a:ext uri="{9D8B030D-6E8A-4147-A177-3AD203B41FA5}">
                      <a16:colId xmlns:a16="http://schemas.microsoft.com/office/drawing/2014/main" val="3524154412"/>
                    </a:ext>
                  </a:extLst>
                </a:gridCol>
                <a:gridCol w="1755648">
                  <a:extLst>
                    <a:ext uri="{9D8B030D-6E8A-4147-A177-3AD203B41FA5}">
                      <a16:colId xmlns:a16="http://schemas.microsoft.com/office/drawing/2014/main" val="1410885501"/>
                    </a:ext>
                  </a:extLst>
                </a:gridCol>
                <a:gridCol w="1755648">
                  <a:extLst>
                    <a:ext uri="{9D8B030D-6E8A-4147-A177-3AD203B41FA5}">
                      <a16:colId xmlns:a16="http://schemas.microsoft.com/office/drawing/2014/main" val="1822260646"/>
                    </a:ext>
                  </a:extLst>
                </a:gridCol>
                <a:gridCol w="1755648">
                  <a:extLst>
                    <a:ext uri="{9D8B030D-6E8A-4147-A177-3AD203B41FA5}">
                      <a16:colId xmlns:a16="http://schemas.microsoft.com/office/drawing/2014/main" val="1193437628"/>
                    </a:ext>
                  </a:extLst>
                </a:gridCol>
                <a:gridCol w="1755648">
                  <a:extLst>
                    <a:ext uri="{9D8B030D-6E8A-4147-A177-3AD203B41FA5}">
                      <a16:colId xmlns:a16="http://schemas.microsoft.com/office/drawing/2014/main" val="1462740971"/>
                    </a:ext>
                  </a:extLst>
                </a:gridCol>
              </a:tblGrid>
              <a:tr h="579120">
                <a:tc>
                  <a:txBody>
                    <a:bodyPr/>
                    <a:lstStyle/>
                    <a:p>
                      <a:r>
                        <a:rPr lang="en-ZA" sz="2000" b="1">
                          <a:solidFill>
                            <a:srgbClr val="FFFFFF"/>
                          </a:solidFill>
                          <a:latin typeface="Aptos" panose="020B0004020202020204" pitchFamily="34" charset="0"/>
                        </a:rPr>
                        <a:t>Pipeline</a:t>
                      </a:r>
                    </a:p>
                  </a:txBody>
                  <a:tcPr marL="101600" marR="63500" marT="50800" marB="38100" anchor="ctr">
                    <a:solidFill>
                      <a:srgbClr val="20364A"/>
                    </a:solidFill>
                  </a:tcPr>
                </a:tc>
                <a:tc>
                  <a:txBody>
                    <a:bodyPr/>
                    <a:lstStyle/>
                    <a:p>
                      <a:r>
                        <a:rPr lang="en-ZA" sz="2000" b="1">
                          <a:solidFill>
                            <a:srgbClr val="FFFFFF"/>
                          </a:solidFill>
                          <a:latin typeface="Aptos" panose="020B0004020202020204" pitchFamily="34" charset="0"/>
                        </a:rPr>
                        <a:t>Accuracy</a:t>
                      </a:r>
                    </a:p>
                  </a:txBody>
                  <a:tcPr marL="101600" marR="63500" marT="50800" marB="38100" anchor="ctr">
                    <a:solidFill>
                      <a:srgbClr val="20364A"/>
                    </a:solidFill>
                  </a:tcPr>
                </a:tc>
                <a:tc>
                  <a:txBody>
                    <a:bodyPr/>
                    <a:lstStyle/>
                    <a:p>
                      <a:r>
                        <a:rPr lang="en-ZA" sz="2000" b="1">
                          <a:solidFill>
                            <a:srgbClr val="FFFFFF"/>
                          </a:solidFill>
                          <a:latin typeface="Aptos" panose="020B0004020202020204" pitchFamily="34" charset="0"/>
                        </a:rPr>
                        <a:t>Macro P</a:t>
                      </a:r>
                    </a:p>
                  </a:txBody>
                  <a:tcPr marL="101600" marR="63500" marT="50800" marB="38100" anchor="ctr">
                    <a:solidFill>
                      <a:srgbClr val="20364A"/>
                    </a:solidFill>
                  </a:tcPr>
                </a:tc>
                <a:tc>
                  <a:txBody>
                    <a:bodyPr/>
                    <a:lstStyle/>
                    <a:p>
                      <a:r>
                        <a:rPr lang="en-ZA" sz="2000" b="1">
                          <a:solidFill>
                            <a:srgbClr val="FFFFFF"/>
                          </a:solidFill>
                          <a:latin typeface="Aptos" panose="020B0004020202020204" pitchFamily="34" charset="0"/>
                        </a:rPr>
                        <a:t>Macro R</a:t>
                      </a:r>
                    </a:p>
                  </a:txBody>
                  <a:tcPr marL="101600" marR="63500" marT="50800" marB="38100" anchor="ctr">
                    <a:solidFill>
                      <a:srgbClr val="20364A"/>
                    </a:solidFill>
                  </a:tcPr>
                </a:tc>
                <a:tc>
                  <a:txBody>
                    <a:bodyPr/>
                    <a:lstStyle/>
                    <a:p>
                      <a:r>
                        <a:rPr lang="en-ZA" sz="2000" b="1">
                          <a:solidFill>
                            <a:srgbClr val="FFFFFF"/>
                          </a:solidFill>
                          <a:latin typeface="Aptos" panose="020B0004020202020204" pitchFamily="34" charset="0"/>
                        </a:rPr>
                        <a:t>Macro F1</a:t>
                      </a:r>
                    </a:p>
                  </a:txBody>
                  <a:tcPr marL="101600" marR="63500" marT="50800" marB="38100" anchor="ctr">
                    <a:solidFill>
                      <a:srgbClr val="20364A"/>
                    </a:solidFill>
                  </a:tcPr>
                </a:tc>
                <a:extLst>
                  <a:ext uri="{0D108BD9-81ED-4DB2-BD59-A6C34878D82A}">
                    <a16:rowId xmlns:a16="http://schemas.microsoft.com/office/drawing/2014/main" val="3239752177"/>
                  </a:ext>
                </a:extLst>
              </a:tr>
              <a:tr h="579120">
                <a:tc>
                  <a:txBody>
                    <a:bodyPr/>
                    <a:lstStyle/>
                    <a:p>
                      <a:r>
                        <a:rPr lang="en-ZA" sz="2000" b="0">
                          <a:solidFill>
                            <a:srgbClr val="20364A"/>
                          </a:solidFill>
                          <a:latin typeface="Aptos" panose="020B0004020202020204" pitchFamily="34" charset="0"/>
                        </a:rPr>
                        <a:t>Primary frozen fusion</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80.16%</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0.812</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0.802</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0.7952</a:t>
                      </a:r>
                    </a:p>
                  </a:txBody>
                  <a:tcPr marL="101600" marR="63500" marT="50800" marB="38100" anchor="ctr">
                    <a:solidFill>
                      <a:srgbClr val="EDF3F5"/>
                    </a:solidFill>
                  </a:tcPr>
                </a:tc>
                <a:extLst>
                  <a:ext uri="{0D108BD9-81ED-4DB2-BD59-A6C34878D82A}">
                    <a16:rowId xmlns:a16="http://schemas.microsoft.com/office/drawing/2014/main" val="1778793732"/>
                  </a:ext>
                </a:extLst>
              </a:tr>
              <a:tr h="579120">
                <a:tc>
                  <a:txBody>
                    <a:bodyPr/>
                    <a:lstStyle/>
                    <a:p>
                      <a:r>
                        <a:rPr lang="en-ZA" sz="2000" b="0">
                          <a:solidFill>
                            <a:srgbClr val="20364A"/>
                          </a:solidFill>
                          <a:latin typeface="Aptos" panose="020B0004020202020204" pitchFamily="34" charset="0"/>
                        </a:rPr>
                        <a:t>ConvNeXt control</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75.56%</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0.793</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0.756</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0.7566</a:t>
                      </a:r>
                    </a:p>
                  </a:txBody>
                  <a:tcPr marL="101600" marR="63500" marT="50800" marB="38100" anchor="ctr">
                    <a:solidFill>
                      <a:srgbClr val="FFFFFF"/>
                    </a:solidFill>
                  </a:tcPr>
                </a:tc>
                <a:extLst>
                  <a:ext uri="{0D108BD9-81ED-4DB2-BD59-A6C34878D82A}">
                    <a16:rowId xmlns:a16="http://schemas.microsoft.com/office/drawing/2014/main" val="2468347477"/>
                  </a:ext>
                </a:extLst>
              </a:tr>
              <a:tr h="579120">
                <a:tc>
                  <a:txBody>
                    <a:bodyPr/>
                    <a:lstStyle/>
                    <a:p>
                      <a:r>
                        <a:rPr lang="en-ZA" sz="2000" b="0">
                          <a:solidFill>
                            <a:srgbClr val="20364A"/>
                          </a:solidFill>
                          <a:latin typeface="Aptos" panose="020B0004020202020204" pitchFamily="34" charset="0"/>
                        </a:rPr>
                        <a:t>Fixed ResNet-50</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77.62%</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0.789</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0.776</a:t>
                      </a:r>
                    </a:p>
                  </a:txBody>
                  <a:tcPr marL="101600" marR="63500" marT="50800" marB="38100" anchor="ctr">
                    <a:solidFill>
                      <a:srgbClr val="EDF3F5"/>
                    </a:solidFill>
                  </a:tcPr>
                </a:tc>
                <a:tc>
                  <a:txBody>
                    <a:bodyPr/>
                    <a:lstStyle/>
                    <a:p>
                      <a:r>
                        <a:rPr lang="en-ZA" sz="2000" b="0">
                          <a:solidFill>
                            <a:srgbClr val="20364A"/>
                          </a:solidFill>
                          <a:latin typeface="Aptos" panose="020B0004020202020204" pitchFamily="34" charset="0"/>
                        </a:rPr>
                        <a:t>0.7665</a:t>
                      </a:r>
                    </a:p>
                  </a:txBody>
                  <a:tcPr marL="101600" marR="63500" marT="50800" marB="38100" anchor="ctr">
                    <a:solidFill>
                      <a:srgbClr val="EDF3F5"/>
                    </a:solidFill>
                  </a:tcPr>
                </a:tc>
                <a:extLst>
                  <a:ext uri="{0D108BD9-81ED-4DB2-BD59-A6C34878D82A}">
                    <a16:rowId xmlns:a16="http://schemas.microsoft.com/office/drawing/2014/main" val="1546717429"/>
                  </a:ext>
                </a:extLst>
              </a:tr>
              <a:tr h="579120">
                <a:tc>
                  <a:txBody>
                    <a:bodyPr/>
                    <a:lstStyle/>
                    <a:p>
                      <a:r>
                        <a:rPr lang="en-ZA" sz="2000" b="0">
                          <a:solidFill>
                            <a:srgbClr val="20364A"/>
                          </a:solidFill>
                          <a:latin typeface="Aptos" panose="020B0004020202020204" pitchFamily="34" charset="0"/>
                        </a:rPr>
                        <a:t>Fine-tuned DINOv2</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86.83%</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0.897</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0.868</a:t>
                      </a:r>
                    </a:p>
                  </a:txBody>
                  <a:tcPr marL="101600" marR="63500" marT="50800" marB="38100" anchor="ctr">
                    <a:solidFill>
                      <a:srgbClr val="FFFFFF"/>
                    </a:solidFill>
                  </a:tcPr>
                </a:tc>
                <a:tc>
                  <a:txBody>
                    <a:bodyPr/>
                    <a:lstStyle/>
                    <a:p>
                      <a:r>
                        <a:rPr lang="en-ZA" sz="2000" b="0">
                          <a:solidFill>
                            <a:srgbClr val="20364A"/>
                          </a:solidFill>
                          <a:latin typeface="Aptos" panose="020B0004020202020204" pitchFamily="34" charset="0"/>
                        </a:rPr>
                        <a:t>0.8631</a:t>
                      </a:r>
                    </a:p>
                  </a:txBody>
                  <a:tcPr marL="101600" marR="63500" marT="50800" marB="38100" anchor="ctr">
                    <a:solidFill>
                      <a:srgbClr val="FFFFFF"/>
                    </a:solidFill>
                  </a:tcPr>
                </a:tc>
                <a:extLst>
                  <a:ext uri="{0D108BD9-81ED-4DB2-BD59-A6C34878D82A}">
                    <a16:rowId xmlns:a16="http://schemas.microsoft.com/office/drawing/2014/main" val="773582041"/>
                  </a:ext>
                </a:extLst>
              </a:tr>
            </a:tbl>
          </a:graphicData>
        </a:graphic>
      </p:graphicFrame>
      <p:sp>
        <p:nvSpPr>
          <p:cNvPr id="5" name="TextBox 4">
            <a:extLst>
              <a:ext uri="{FF2B5EF4-FFF2-40B4-BE49-F238E27FC236}">
                <a16:creationId xmlns:a16="http://schemas.microsoft.com/office/drawing/2014/main" id="{FEF81A1E-F921-90DF-12D9-7E034664F243}"/>
              </a:ext>
            </a:extLst>
          </p:cNvPr>
          <p:cNvSpPr txBox="1"/>
          <p:nvPr/>
        </p:nvSpPr>
        <p:spPr>
          <a:xfrm>
            <a:off x="609600" y="4673599"/>
            <a:ext cx="10972800" cy="508000"/>
          </a:xfrm>
          <a:prstGeom prst="rect">
            <a:avLst/>
          </a:prstGeom>
          <a:noFill/>
        </p:spPr>
        <p:txBody>
          <a:bodyPr vert="horz" wrap="square" lIns="0" tIns="0" rIns="0" bIns="0" rtlCol="0">
            <a:noAutofit/>
          </a:bodyPr>
          <a:lstStyle/>
          <a:p>
            <a:pPr>
              <a:spcAft>
                <a:spcPts val="600"/>
              </a:spcAft>
            </a:pPr>
            <a:r>
              <a:rPr lang="en-ZA" sz="2600" b="1">
                <a:solidFill>
                  <a:srgbClr val="20364A"/>
                </a:solidFill>
                <a:latin typeface="Aptos" panose="020B0004020202020204" pitchFamily="34" charset="0"/>
              </a:rPr>
              <a:t>Primary: 80.16% accuracy, 95% CI 66.03-93.65%</a:t>
            </a:r>
          </a:p>
        </p:txBody>
      </p:sp>
      <p:sp>
        <p:nvSpPr>
          <p:cNvPr id="6" name="TextBox 5">
            <a:extLst>
              <a:ext uri="{FF2B5EF4-FFF2-40B4-BE49-F238E27FC236}">
                <a16:creationId xmlns:a16="http://schemas.microsoft.com/office/drawing/2014/main" id="{E8F66940-6B1A-D456-056F-A3E0C5F7DCB6}"/>
              </a:ext>
            </a:extLst>
          </p:cNvPr>
          <p:cNvSpPr txBox="1"/>
          <p:nvPr/>
        </p:nvSpPr>
        <p:spPr>
          <a:xfrm>
            <a:off x="609600" y="5283199"/>
            <a:ext cx="10972800" cy="482600"/>
          </a:xfrm>
          <a:prstGeom prst="rect">
            <a:avLst/>
          </a:prstGeom>
          <a:noFill/>
        </p:spPr>
        <p:txBody>
          <a:bodyPr vert="horz" wrap="square" lIns="0" tIns="0" rIns="0" bIns="0" rtlCol="0">
            <a:noAutofit/>
          </a:bodyPr>
          <a:lstStyle/>
          <a:p>
            <a:pPr>
              <a:spcAft>
                <a:spcPts val="600"/>
              </a:spcAft>
            </a:pPr>
            <a:r>
              <a:rPr lang="en-US" sz="2000">
                <a:solidFill>
                  <a:srgbClr val="20364A"/>
                </a:solidFill>
                <a:latin typeface="Aptos" panose="020B0004020202020204" pitchFamily="34" charset="0"/>
              </a:rPr>
              <a:t>The 80% point target is met. The lower confidence bound is below 80%.</a:t>
            </a:r>
            <a:endParaRPr lang="en-ZA" sz="2000">
              <a:solidFill>
                <a:srgbClr val="20364A"/>
              </a:solidFill>
              <a:latin typeface="Aptos" panose="020B0004020202020204" pitchFamily="34" charset="0"/>
            </a:endParaRPr>
          </a:p>
        </p:txBody>
      </p:sp>
      <p:sp>
        <p:nvSpPr>
          <p:cNvPr id="7" name="TextBox 6">
            <a:extLst>
              <a:ext uri="{FF2B5EF4-FFF2-40B4-BE49-F238E27FC236}">
                <a16:creationId xmlns:a16="http://schemas.microsoft.com/office/drawing/2014/main" id="{1614BB79-12B5-A891-B998-FD2F19917C06}"/>
              </a:ext>
            </a:extLst>
          </p:cNvPr>
          <p:cNvSpPr txBox="1"/>
          <p:nvPr/>
        </p:nvSpPr>
        <p:spPr>
          <a:xfrm>
            <a:off x="609600" y="5880099"/>
            <a:ext cx="10972800" cy="660400"/>
          </a:xfrm>
          <a:prstGeom prst="rect">
            <a:avLst/>
          </a:prstGeom>
          <a:noFill/>
        </p:spPr>
        <p:txBody>
          <a:bodyPr vert="horz" wrap="square" lIns="0" tIns="0" rIns="0" bIns="0" rtlCol="0">
            <a:noAutofit/>
          </a:bodyPr>
          <a:lstStyle/>
          <a:p>
            <a:pPr>
              <a:spcAft>
                <a:spcPts val="600"/>
              </a:spcAft>
            </a:pPr>
            <a:r>
              <a:rPr lang="en-US">
                <a:solidFill>
                  <a:srgbClr val="A25524"/>
                </a:solidFill>
                <a:latin typeface="Aptos" panose="020B0004020202020204" pitchFamily="34" charset="0"/>
              </a:rPr>
              <a:t>Exploratory DINOv2 advantage: +6.67 pp, paired 95% CI -2.06 to +16.19 pp.
Higher observed accuracy does not establish superiority.</a:t>
            </a:r>
            <a:endParaRPr lang="en-ZA">
              <a:solidFill>
                <a:srgbClr val="A25524"/>
              </a:solidFill>
              <a:latin typeface="Aptos" panose="020B0004020202020204" pitchFamily="34" charset="0"/>
            </a:endParaRPr>
          </a:p>
        </p:txBody>
      </p:sp>
    </p:spTree>
    <p:extLst>
      <p:ext uri="{BB962C8B-B14F-4D97-AF65-F5344CB8AC3E}">
        <p14:creationId xmlns:p14="http://schemas.microsoft.com/office/powerpoint/2010/main" val="2553043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8DDA63-65CD-64DB-119E-F7793702C5B9}"/>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Primary errors and per-class performance</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C1D76C15-0A70-D15F-F3F0-91F519E4BE6D}"/>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8</a:t>
            </a:r>
          </a:p>
        </p:txBody>
      </p:sp>
      <p:graphicFrame>
        <p:nvGraphicFramePr>
          <p:cNvPr id="4" name="Table 3">
            <a:extLst>
              <a:ext uri="{FF2B5EF4-FFF2-40B4-BE49-F238E27FC236}">
                <a16:creationId xmlns:a16="http://schemas.microsoft.com/office/drawing/2014/main" id="{581E48DE-A050-192E-DAD2-C860B86C4FC3}"/>
              </a:ext>
            </a:extLst>
          </p:cNvPr>
          <p:cNvGraphicFramePr>
            <a:graphicFrameLocks noGrp="1"/>
          </p:cNvGraphicFramePr>
          <p:nvPr>
            <p:extLst>
              <p:ext uri="{D42A27DB-BD31-4B8C-83A1-F6EECF244321}">
                <p14:modId xmlns:p14="http://schemas.microsoft.com/office/powerpoint/2010/main" val="1171025875"/>
              </p:ext>
            </p:extLst>
          </p:nvPr>
        </p:nvGraphicFramePr>
        <p:xfrm>
          <a:off x="533400" y="1905000"/>
          <a:ext cx="6604000" cy="3492500"/>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75132339"/>
                    </a:ext>
                  </a:extLst>
                </a:gridCol>
                <a:gridCol w="717006">
                  <a:extLst>
                    <a:ext uri="{9D8B030D-6E8A-4147-A177-3AD203B41FA5}">
                      <a16:colId xmlns:a16="http://schemas.microsoft.com/office/drawing/2014/main" val="2504642742"/>
                    </a:ext>
                  </a:extLst>
                </a:gridCol>
                <a:gridCol w="717006">
                  <a:extLst>
                    <a:ext uri="{9D8B030D-6E8A-4147-A177-3AD203B41FA5}">
                      <a16:colId xmlns:a16="http://schemas.microsoft.com/office/drawing/2014/main" val="1951022659"/>
                    </a:ext>
                  </a:extLst>
                </a:gridCol>
                <a:gridCol w="717006">
                  <a:extLst>
                    <a:ext uri="{9D8B030D-6E8A-4147-A177-3AD203B41FA5}">
                      <a16:colId xmlns:a16="http://schemas.microsoft.com/office/drawing/2014/main" val="319813761"/>
                    </a:ext>
                  </a:extLst>
                </a:gridCol>
                <a:gridCol w="717006">
                  <a:extLst>
                    <a:ext uri="{9D8B030D-6E8A-4147-A177-3AD203B41FA5}">
                      <a16:colId xmlns:a16="http://schemas.microsoft.com/office/drawing/2014/main" val="375247295"/>
                    </a:ext>
                  </a:extLst>
                </a:gridCol>
                <a:gridCol w="717006">
                  <a:extLst>
                    <a:ext uri="{9D8B030D-6E8A-4147-A177-3AD203B41FA5}">
                      <a16:colId xmlns:a16="http://schemas.microsoft.com/office/drawing/2014/main" val="2255226207"/>
                    </a:ext>
                  </a:extLst>
                </a:gridCol>
                <a:gridCol w="717006">
                  <a:extLst>
                    <a:ext uri="{9D8B030D-6E8A-4147-A177-3AD203B41FA5}">
                      <a16:colId xmlns:a16="http://schemas.microsoft.com/office/drawing/2014/main" val="2164332006"/>
                    </a:ext>
                  </a:extLst>
                </a:gridCol>
                <a:gridCol w="717006">
                  <a:extLst>
                    <a:ext uri="{9D8B030D-6E8A-4147-A177-3AD203B41FA5}">
                      <a16:colId xmlns:a16="http://schemas.microsoft.com/office/drawing/2014/main" val="3686009805"/>
                    </a:ext>
                  </a:extLst>
                </a:gridCol>
              </a:tblGrid>
              <a:tr h="436563">
                <a:tc>
                  <a:txBody>
                    <a:bodyPr/>
                    <a:lstStyle/>
                    <a:p>
                      <a:r>
                        <a:rPr lang="en-ZA" sz="1600" b="1">
                          <a:solidFill>
                            <a:srgbClr val="FFFFFF"/>
                          </a:solidFill>
                          <a:latin typeface="Aptos" panose="020B0004020202020204" pitchFamily="34" charset="0"/>
                        </a:rPr>
                        <a:t>True / pred.</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Wd</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Mt</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St</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Co</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Ce</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Fa</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Le</a:t>
                      </a:r>
                    </a:p>
                  </a:txBody>
                  <a:tcPr marL="101600" marR="63500" marT="50800" marB="38100" anchor="ctr">
                    <a:solidFill>
                      <a:srgbClr val="20364A"/>
                    </a:solidFill>
                  </a:tcPr>
                </a:tc>
                <a:extLst>
                  <a:ext uri="{0D108BD9-81ED-4DB2-BD59-A6C34878D82A}">
                    <a16:rowId xmlns:a16="http://schemas.microsoft.com/office/drawing/2014/main" val="4289828238"/>
                  </a:ext>
                </a:extLst>
              </a:tr>
              <a:tr h="436563">
                <a:tc>
                  <a:txBody>
                    <a:bodyPr/>
                    <a:lstStyle/>
                    <a:p>
                      <a:r>
                        <a:rPr lang="en-ZA" sz="1600" b="0">
                          <a:solidFill>
                            <a:srgbClr val="20364A"/>
                          </a:solidFill>
                          <a:latin typeface="Aptos" panose="020B0004020202020204" pitchFamily="34" charset="0"/>
                        </a:rPr>
                        <a:t>Wood</a:t>
                      </a:r>
                    </a:p>
                  </a:txBody>
                  <a:tcPr marL="101600" marR="63500" marT="50800" marB="38100" anchor="ctr">
                    <a:solidFill>
                      <a:srgbClr val="EDF3F5"/>
                    </a:solidFill>
                  </a:tcPr>
                </a:tc>
                <a:tc>
                  <a:txBody>
                    <a:bodyPr/>
                    <a:lstStyle/>
                    <a:p>
                      <a:pPr algn="ctr"/>
                      <a:r>
                        <a:rPr lang="en-ZA" sz="1600" b="0">
                          <a:solidFill>
                            <a:srgbClr val="FFFFFF"/>
                          </a:solidFill>
                          <a:latin typeface="Aptos" panose="020B0004020202020204" pitchFamily="34" charset="0"/>
                        </a:rPr>
                        <a:t>90</a:t>
                      </a:r>
                    </a:p>
                  </a:txBody>
                  <a:tcPr marL="101600" marR="63500" marT="50800" marB="38100" anchor="ctr">
                    <a:solidFill>
                      <a:srgbClr val="147F82"/>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extLst>
                  <a:ext uri="{0D108BD9-81ED-4DB2-BD59-A6C34878D82A}">
                    <a16:rowId xmlns:a16="http://schemas.microsoft.com/office/drawing/2014/main" val="1371416809"/>
                  </a:ext>
                </a:extLst>
              </a:tr>
              <a:tr h="436563">
                <a:tc>
                  <a:txBody>
                    <a:bodyPr/>
                    <a:lstStyle/>
                    <a:p>
                      <a:r>
                        <a:rPr lang="en-ZA" sz="1600" b="0">
                          <a:solidFill>
                            <a:srgbClr val="20364A"/>
                          </a:solidFill>
                          <a:latin typeface="Aptos" panose="020B0004020202020204" pitchFamily="34" charset="0"/>
                        </a:rPr>
                        <a:t>Metal</a:t>
                      </a:r>
                    </a:p>
                  </a:txBody>
                  <a:tcPr marL="101600" marR="63500" marT="50800" marB="38100" anchor="ctr">
                    <a:solidFill>
                      <a:srgbClr val="FFFFFF"/>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FFFFFF"/>
                          </a:solidFill>
                          <a:latin typeface="Aptos" panose="020B0004020202020204" pitchFamily="34" charset="0"/>
                        </a:rPr>
                        <a:t>90</a:t>
                      </a:r>
                    </a:p>
                  </a:txBody>
                  <a:tcPr marL="101600" marR="63500" marT="50800" marB="38100" anchor="ctr">
                    <a:solidFill>
                      <a:srgbClr val="147F82"/>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extLst>
                  <a:ext uri="{0D108BD9-81ED-4DB2-BD59-A6C34878D82A}">
                    <a16:rowId xmlns:a16="http://schemas.microsoft.com/office/drawing/2014/main" val="1100631945"/>
                  </a:ext>
                </a:extLst>
              </a:tr>
              <a:tr h="436563">
                <a:tc>
                  <a:txBody>
                    <a:bodyPr/>
                    <a:lstStyle/>
                    <a:p>
                      <a:r>
                        <a:rPr lang="en-ZA" sz="1600" b="0">
                          <a:solidFill>
                            <a:srgbClr val="20364A"/>
                          </a:solidFill>
                          <a:latin typeface="Aptos" panose="020B0004020202020204" pitchFamily="34" charset="0"/>
                        </a:rPr>
                        <a:t>Stone</a:t>
                      </a:r>
                    </a:p>
                  </a:txBody>
                  <a:tcPr marL="101600" marR="63500" marT="50800" marB="38100" anchor="ctr">
                    <a:solidFill>
                      <a:srgbClr val="EDF3F5"/>
                    </a:solidFill>
                  </a:tcPr>
                </a:tc>
                <a:tc>
                  <a:txBody>
                    <a:bodyPr/>
                    <a:lstStyle/>
                    <a:p>
                      <a:pPr algn="ctr"/>
                      <a:r>
                        <a:rPr lang="en-ZA" sz="1600" b="0">
                          <a:solidFill>
                            <a:srgbClr val="20364A"/>
                          </a:solidFill>
                          <a:latin typeface="Aptos" panose="020B0004020202020204" pitchFamily="34" charset="0"/>
                        </a:rPr>
                        <a:t>12</a:t>
                      </a:r>
                    </a:p>
                  </a:txBody>
                  <a:tcPr marL="101600" marR="63500" marT="50800" marB="38100" anchor="ctr">
                    <a:solidFill>
                      <a:srgbClr val="D7E9E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FFFFFF"/>
                          </a:solidFill>
                          <a:latin typeface="Aptos" panose="020B0004020202020204" pitchFamily="34" charset="0"/>
                        </a:rPr>
                        <a:t>60</a:t>
                      </a:r>
                    </a:p>
                  </a:txBody>
                  <a:tcPr marL="101600" marR="63500" marT="50800" marB="38100" anchor="ctr">
                    <a:solidFill>
                      <a:srgbClr val="5FA8A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18</a:t>
                      </a:r>
                    </a:p>
                  </a:txBody>
                  <a:tcPr marL="101600" marR="63500" marT="50800" marB="38100" anchor="ctr">
                    <a:solidFill>
                      <a:srgbClr val="C8E1E2"/>
                    </a:solidFill>
                  </a:tcPr>
                </a:tc>
                <a:extLst>
                  <a:ext uri="{0D108BD9-81ED-4DB2-BD59-A6C34878D82A}">
                    <a16:rowId xmlns:a16="http://schemas.microsoft.com/office/drawing/2014/main" val="371121278"/>
                  </a:ext>
                </a:extLst>
              </a:tr>
              <a:tr h="436563">
                <a:tc>
                  <a:txBody>
                    <a:bodyPr/>
                    <a:lstStyle/>
                    <a:p>
                      <a:r>
                        <a:rPr lang="en-ZA" sz="1600" b="0">
                          <a:solidFill>
                            <a:srgbClr val="20364A"/>
                          </a:solidFill>
                          <a:latin typeface="Aptos" panose="020B0004020202020204" pitchFamily="34" charset="0"/>
                        </a:rPr>
                        <a:t>Concrete</a:t>
                      </a:r>
                    </a:p>
                  </a:txBody>
                  <a:tcPr marL="101600" marR="63500" marT="50800" marB="38100" anchor="ctr">
                    <a:solidFill>
                      <a:srgbClr val="FFFFFF"/>
                    </a:solidFill>
                  </a:tcPr>
                </a:tc>
                <a:tc>
                  <a:txBody>
                    <a:bodyPr/>
                    <a:lstStyle/>
                    <a:p>
                      <a:pPr algn="ctr"/>
                      <a:r>
                        <a:rPr lang="en-ZA" sz="1600" b="0">
                          <a:solidFill>
                            <a:srgbClr val="20364A"/>
                          </a:solidFill>
                          <a:latin typeface="Aptos" panose="020B0004020202020204" pitchFamily="34" charset="0"/>
                        </a:rPr>
                        <a:t>18</a:t>
                      </a:r>
                    </a:p>
                  </a:txBody>
                  <a:tcPr marL="101600" marR="63500" marT="50800" marB="38100" anchor="ctr">
                    <a:solidFill>
                      <a:srgbClr val="C8E1E2"/>
                    </a:solidFill>
                  </a:tcPr>
                </a:tc>
                <a:tc>
                  <a:txBody>
                    <a:bodyPr/>
                    <a:lstStyle/>
                    <a:p>
                      <a:pPr algn="ctr"/>
                      <a:r>
                        <a:rPr lang="en-ZA" sz="1600" b="0">
                          <a:solidFill>
                            <a:srgbClr val="20364A"/>
                          </a:solidFill>
                          <a:latin typeface="Aptos" panose="020B0004020202020204" pitchFamily="34" charset="0"/>
                        </a:rPr>
                        <a:t>6</a:t>
                      </a:r>
                    </a:p>
                  </a:txBody>
                  <a:tcPr marL="101600" marR="63500" marT="50800" marB="38100" anchor="ctr">
                    <a:solidFill>
                      <a:srgbClr val="E6F1F2"/>
                    </a:solidFill>
                  </a:tcPr>
                </a:tc>
                <a:tc>
                  <a:txBody>
                    <a:bodyPr/>
                    <a:lstStyle/>
                    <a:p>
                      <a:pPr algn="ctr"/>
                      <a:r>
                        <a:rPr lang="en-ZA" sz="1600" b="0">
                          <a:solidFill>
                            <a:srgbClr val="20364A"/>
                          </a:solidFill>
                          <a:latin typeface="Aptos" panose="020B0004020202020204" pitchFamily="34" charset="0"/>
                        </a:rPr>
                        <a:t>2</a:t>
                      </a:r>
                    </a:p>
                  </a:txBody>
                  <a:tcPr marL="101600" marR="63500" marT="50800" marB="38100" anchor="ctr">
                    <a:solidFill>
                      <a:srgbClr val="F0F6F7"/>
                    </a:solidFill>
                  </a:tcPr>
                </a:tc>
                <a:tc>
                  <a:txBody>
                    <a:bodyPr/>
                    <a:lstStyle/>
                    <a:p>
                      <a:pPr algn="ctr"/>
                      <a:r>
                        <a:rPr lang="en-ZA" sz="1600" b="0">
                          <a:solidFill>
                            <a:srgbClr val="FFFFFF"/>
                          </a:solidFill>
                          <a:latin typeface="Aptos" panose="020B0004020202020204" pitchFamily="34" charset="0"/>
                        </a:rPr>
                        <a:t>61</a:t>
                      </a:r>
                    </a:p>
                  </a:txBody>
                  <a:tcPr marL="101600" marR="63500" marT="50800" marB="38100" anchor="ctr">
                    <a:solidFill>
                      <a:srgbClr val="5CA6A9"/>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3</a:t>
                      </a:r>
                    </a:p>
                  </a:txBody>
                  <a:tcPr marL="101600" marR="63500" marT="50800" marB="38100" anchor="ctr">
                    <a:solidFill>
                      <a:srgbClr val="EEF5F6"/>
                    </a:solidFill>
                  </a:tcPr>
                </a:tc>
                <a:extLst>
                  <a:ext uri="{0D108BD9-81ED-4DB2-BD59-A6C34878D82A}">
                    <a16:rowId xmlns:a16="http://schemas.microsoft.com/office/drawing/2014/main" val="4112889142"/>
                  </a:ext>
                </a:extLst>
              </a:tr>
              <a:tr h="436563">
                <a:tc>
                  <a:txBody>
                    <a:bodyPr/>
                    <a:lstStyle/>
                    <a:p>
                      <a:r>
                        <a:rPr lang="en-ZA" sz="1600" b="0">
                          <a:solidFill>
                            <a:srgbClr val="20364A"/>
                          </a:solidFill>
                          <a:latin typeface="Aptos" panose="020B0004020202020204" pitchFamily="34" charset="0"/>
                        </a:rPr>
                        <a:t>Ceramic</a:t>
                      </a:r>
                    </a:p>
                  </a:txBody>
                  <a:tcPr marL="101600" marR="63500" marT="50800" marB="38100" anchor="ctr">
                    <a:solidFill>
                      <a:srgbClr val="EDF3F5"/>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8</a:t>
                      </a:r>
                    </a:p>
                  </a:txBody>
                  <a:tcPr marL="101600" marR="63500" marT="50800" marB="38100" anchor="ctr">
                    <a:solidFill>
                      <a:srgbClr val="E1EEEF"/>
                    </a:solidFill>
                  </a:tcPr>
                </a:tc>
                <a:tc>
                  <a:txBody>
                    <a:bodyPr/>
                    <a:lstStyle/>
                    <a:p>
                      <a:pPr algn="ctr"/>
                      <a:r>
                        <a:rPr lang="en-ZA" sz="1600" b="0">
                          <a:solidFill>
                            <a:srgbClr val="20364A"/>
                          </a:solidFill>
                          <a:latin typeface="Aptos" panose="020B0004020202020204" pitchFamily="34" charset="0"/>
                        </a:rPr>
                        <a:t>30</a:t>
                      </a:r>
                    </a:p>
                  </a:txBody>
                  <a:tcPr marL="101600" marR="63500" marT="50800" marB="38100" anchor="ctr">
                    <a:solidFill>
                      <a:srgbClr val="AAD0D2"/>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FFFFFF"/>
                          </a:solidFill>
                          <a:latin typeface="Aptos" panose="020B0004020202020204" pitchFamily="34" charset="0"/>
                        </a:rPr>
                        <a:t>52</a:t>
                      </a:r>
                    </a:p>
                  </a:txBody>
                  <a:tcPr marL="101600" marR="63500" marT="50800" marB="38100" anchor="ctr">
                    <a:solidFill>
                      <a:srgbClr val="73B3B5"/>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extLst>
                  <a:ext uri="{0D108BD9-81ED-4DB2-BD59-A6C34878D82A}">
                    <a16:rowId xmlns:a16="http://schemas.microsoft.com/office/drawing/2014/main" val="570115327"/>
                  </a:ext>
                </a:extLst>
              </a:tr>
              <a:tr h="436563">
                <a:tc>
                  <a:txBody>
                    <a:bodyPr/>
                    <a:lstStyle/>
                    <a:p>
                      <a:r>
                        <a:rPr lang="en-ZA" sz="1600" b="0">
                          <a:solidFill>
                            <a:srgbClr val="20364A"/>
                          </a:solidFill>
                          <a:latin typeface="Aptos" panose="020B0004020202020204" pitchFamily="34" charset="0"/>
                        </a:rPr>
                        <a:t>Fabric</a:t>
                      </a:r>
                    </a:p>
                  </a:txBody>
                  <a:tcPr marL="101600" marR="63500" marT="50800" marB="38100" anchor="ctr">
                    <a:solidFill>
                      <a:srgbClr val="FFFFFF"/>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FFFFFF"/>
                          </a:solidFill>
                          <a:latin typeface="Aptos" panose="020B0004020202020204" pitchFamily="34" charset="0"/>
                        </a:rPr>
                        <a:t>90</a:t>
                      </a:r>
                    </a:p>
                  </a:txBody>
                  <a:tcPr marL="101600" marR="63500" marT="50800" marB="38100" anchor="ctr">
                    <a:solidFill>
                      <a:srgbClr val="147F82"/>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extLst>
                  <a:ext uri="{0D108BD9-81ED-4DB2-BD59-A6C34878D82A}">
                    <a16:rowId xmlns:a16="http://schemas.microsoft.com/office/drawing/2014/main" val="716437064"/>
                  </a:ext>
                </a:extLst>
              </a:tr>
              <a:tr h="436563">
                <a:tc>
                  <a:txBody>
                    <a:bodyPr/>
                    <a:lstStyle/>
                    <a:p>
                      <a:r>
                        <a:rPr lang="en-ZA" sz="1600" b="0">
                          <a:solidFill>
                            <a:srgbClr val="20364A"/>
                          </a:solidFill>
                          <a:latin typeface="Aptos" panose="020B0004020202020204" pitchFamily="34" charset="0"/>
                        </a:rPr>
                        <a:t>Leather</a:t>
                      </a:r>
                    </a:p>
                  </a:txBody>
                  <a:tcPr marL="101600" marR="63500" marT="50800" marB="38100" anchor="ctr">
                    <a:solidFill>
                      <a:srgbClr val="EDF3F5"/>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22</a:t>
                      </a:r>
                    </a:p>
                  </a:txBody>
                  <a:tcPr marL="101600" marR="63500" marT="50800" marB="38100" anchor="ctr">
                    <a:solidFill>
                      <a:srgbClr val="BEDBDD"/>
                    </a:solidFill>
                  </a:tcPr>
                </a:tc>
                <a:tc>
                  <a:txBody>
                    <a:bodyPr/>
                    <a:lstStyle/>
                    <a:p>
                      <a:pPr algn="ctr"/>
                      <a:r>
                        <a:rPr lang="en-ZA" sz="1600" b="0">
                          <a:solidFill>
                            <a:srgbClr val="20364A"/>
                          </a:solidFill>
                          <a:latin typeface="Aptos" panose="020B0004020202020204" pitchFamily="34" charset="0"/>
                        </a:rPr>
                        <a:t>0</a:t>
                      </a:r>
                    </a:p>
                  </a:txBody>
                  <a:tcPr marL="101600" marR="63500" marT="50800" marB="38100" anchor="ctr">
                    <a:solidFill>
                      <a:srgbClr val="F5F9FA"/>
                    </a:solidFill>
                  </a:tcPr>
                </a:tc>
                <a:tc>
                  <a:txBody>
                    <a:bodyPr/>
                    <a:lstStyle/>
                    <a:p>
                      <a:pPr algn="ctr"/>
                      <a:r>
                        <a:rPr lang="en-ZA" sz="1600" b="0">
                          <a:solidFill>
                            <a:srgbClr val="20364A"/>
                          </a:solidFill>
                          <a:latin typeface="Aptos" panose="020B0004020202020204" pitchFamily="34" charset="0"/>
                        </a:rPr>
                        <a:t>6</a:t>
                      </a:r>
                    </a:p>
                  </a:txBody>
                  <a:tcPr marL="101600" marR="63500" marT="50800" marB="38100" anchor="ctr">
                    <a:solidFill>
                      <a:srgbClr val="E6F1F2"/>
                    </a:solidFill>
                  </a:tcPr>
                </a:tc>
                <a:tc>
                  <a:txBody>
                    <a:bodyPr/>
                    <a:lstStyle/>
                    <a:p>
                      <a:pPr algn="ctr"/>
                      <a:r>
                        <a:rPr lang="en-ZA" sz="1600" b="0">
                          <a:solidFill>
                            <a:srgbClr val="FFFFFF"/>
                          </a:solidFill>
                          <a:latin typeface="Aptos" panose="020B0004020202020204" pitchFamily="34" charset="0"/>
                        </a:rPr>
                        <a:t>62</a:t>
                      </a:r>
                    </a:p>
                  </a:txBody>
                  <a:tcPr marL="101600" marR="63500" marT="50800" marB="38100" anchor="ctr">
                    <a:solidFill>
                      <a:srgbClr val="5AA5A7"/>
                    </a:solidFill>
                  </a:tcPr>
                </a:tc>
                <a:extLst>
                  <a:ext uri="{0D108BD9-81ED-4DB2-BD59-A6C34878D82A}">
                    <a16:rowId xmlns:a16="http://schemas.microsoft.com/office/drawing/2014/main" val="3204047109"/>
                  </a:ext>
                </a:extLst>
              </a:tr>
            </a:tbl>
          </a:graphicData>
        </a:graphic>
      </p:graphicFrame>
      <p:graphicFrame>
        <p:nvGraphicFramePr>
          <p:cNvPr id="5" name="Table 4">
            <a:extLst>
              <a:ext uri="{FF2B5EF4-FFF2-40B4-BE49-F238E27FC236}">
                <a16:creationId xmlns:a16="http://schemas.microsoft.com/office/drawing/2014/main" id="{935B0703-A65A-B1B3-91E5-8985F187ABF8}"/>
              </a:ext>
            </a:extLst>
          </p:cNvPr>
          <p:cNvGraphicFramePr>
            <a:graphicFrameLocks noGrp="1"/>
          </p:cNvGraphicFramePr>
          <p:nvPr>
            <p:extLst>
              <p:ext uri="{D42A27DB-BD31-4B8C-83A1-F6EECF244321}">
                <p14:modId xmlns:p14="http://schemas.microsoft.com/office/powerpoint/2010/main" val="1136556255"/>
              </p:ext>
            </p:extLst>
          </p:nvPr>
        </p:nvGraphicFramePr>
        <p:xfrm>
          <a:off x="7429500" y="1905000"/>
          <a:ext cx="4229100" cy="3492500"/>
        </p:xfrm>
        <a:graphic>
          <a:graphicData uri="http://schemas.openxmlformats.org/drawingml/2006/table">
            <a:tbl>
              <a:tblPr firstRow="1" bandRow="1">
                <a:tableStyleId>{5C22544A-7EE6-4342-B048-85BDC9FD1C3A}</a:tableStyleId>
              </a:tblPr>
              <a:tblGrid>
                <a:gridCol w="1437894">
                  <a:extLst>
                    <a:ext uri="{9D8B030D-6E8A-4147-A177-3AD203B41FA5}">
                      <a16:colId xmlns:a16="http://schemas.microsoft.com/office/drawing/2014/main" val="2298080938"/>
                    </a:ext>
                  </a:extLst>
                </a:gridCol>
                <a:gridCol w="930402">
                  <a:extLst>
                    <a:ext uri="{9D8B030D-6E8A-4147-A177-3AD203B41FA5}">
                      <a16:colId xmlns:a16="http://schemas.microsoft.com/office/drawing/2014/main" val="1351918673"/>
                    </a:ext>
                  </a:extLst>
                </a:gridCol>
                <a:gridCol w="930402">
                  <a:extLst>
                    <a:ext uri="{9D8B030D-6E8A-4147-A177-3AD203B41FA5}">
                      <a16:colId xmlns:a16="http://schemas.microsoft.com/office/drawing/2014/main" val="2192284167"/>
                    </a:ext>
                  </a:extLst>
                </a:gridCol>
                <a:gridCol w="930402">
                  <a:extLst>
                    <a:ext uri="{9D8B030D-6E8A-4147-A177-3AD203B41FA5}">
                      <a16:colId xmlns:a16="http://schemas.microsoft.com/office/drawing/2014/main" val="19455310"/>
                    </a:ext>
                  </a:extLst>
                </a:gridCol>
              </a:tblGrid>
              <a:tr h="436563">
                <a:tc>
                  <a:txBody>
                    <a:bodyPr/>
                    <a:lstStyle/>
                    <a:p>
                      <a:r>
                        <a:rPr lang="en-ZA" sz="1600" b="1">
                          <a:solidFill>
                            <a:srgbClr val="FFFFFF"/>
                          </a:solidFill>
                          <a:latin typeface="Aptos" panose="020B0004020202020204" pitchFamily="34" charset="0"/>
                        </a:rPr>
                        <a:t>Class</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P</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R</a:t>
                      </a:r>
                    </a:p>
                  </a:txBody>
                  <a:tcPr marL="101600" marR="63500" marT="50800" marB="38100" anchor="ctr">
                    <a:solidFill>
                      <a:srgbClr val="20364A"/>
                    </a:solidFill>
                  </a:tcPr>
                </a:tc>
                <a:tc>
                  <a:txBody>
                    <a:bodyPr/>
                    <a:lstStyle/>
                    <a:p>
                      <a:r>
                        <a:rPr lang="en-ZA" sz="1600" b="1">
                          <a:solidFill>
                            <a:srgbClr val="FFFFFF"/>
                          </a:solidFill>
                          <a:latin typeface="Aptos" panose="020B0004020202020204" pitchFamily="34" charset="0"/>
                        </a:rPr>
                        <a:t>F1</a:t>
                      </a:r>
                    </a:p>
                  </a:txBody>
                  <a:tcPr marL="101600" marR="63500" marT="50800" marB="38100" anchor="ctr">
                    <a:solidFill>
                      <a:srgbClr val="20364A"/>
                    </a:solidFill>
                  </a:tcPr>
                </a:tc>
                <a:extLst>
                  <a:ext uri="{0D108BD9-81ED-4DB2-BD59-A6C34878D82A}">
                    <a16:rowId xmlns:a16="http://schemas.microsoft.com/office/drawing/2014/main" val="78929299"/>
                  </a:ext>
                </a:extLst>
              </a:tr>
              <a:tr h="436563">
                <a:tc>
                  <a:txBody>
                    <a:bodyPr/>
                    <a:lstStyle/>
                    <a:p>
                      <a:r>
                        <a:rPr lang="en-ZA" sz="1600" b="0">
                          <a:solidFill>
                            <a:srgbClr val="20364A"/>
                          </a:solidFill>
                          <a:latin typeface="Aptos" panose="020B0004020202020204" pitchFamily="34" charset="0"/>
                        </a:rPr>
                        <a:t>Wood</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0.750</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1.000</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0.857</a:t>
                      </a:r>
                    </a:p>
                  </a:txBody>
                  <a:tcPr marL="101600" marR="63500" marT="50800" marB="38100" anchor="ctr">
                    <a:solidFill>
                      <a:srgbClr val="EDF3F5"/>
                    </a:solidFill>
                  </a:tcPr>
                </a:tc>
                <a:extLst>
                  <a:ext uri="{0D108BD9-81ED-4DB2-BD59-A6C34878D82A}">
                    <a16:rowId xmlns:a16="http://schemas.microsoft.com/office/drawing/2014/main" val="1561364316"/>
                  </a:ext>
                </a:extLst>
              </a:tr>
              <a:tr h="436563">
                <a:tc>
                  <a:txBody>
                    <a:bodyPr/>
                    <a:lstStyle/>
                    <a:p>
                      <a:r>
                        <a:rPr lang="en-ZA" sz="1600" b="0">
                          <a:solidFill>
                            <a:srgbClr val="20364A"/>
                          </a:solidFill>
                          <a:latin typeface="Aptos" panose="020B0004020202020204" pitchFamily="34" charset="0"/>
                        </a:rPr>
                        <a:t>Metal</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0.865</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1.000</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0.928</a:t>
                      </a:r>
                    </a:p>
                  </a:txBody>
                  <a:tcPr marL="101600" marR="63500" marT="50800" marB="38100" anchor="ctr">
                    <a:solidFill>
                      <a:srgbClr val="FFFFFF"/>
                    </a:solidFill>
                  </a:tcPr>
                </a:tc>
                <a:extLst>
                  <a:ext uri="{0D108BD9-81ED-4DB2-BD59-A6C34878D82A}">
                    <a16:rowId xmlns:a16="http://schemas.microsoft.com/office/drawing/2014/main" val="1770491697"/>
                  </a:ext>
                </a:extLst>
              </a:tr>
              <a:tr h="436563">
                <a:tc>
                  <a:txBody>
                    <a:bodyPr/>
                    <a:lstStyle/>
                    <a:p>
                      <a:r>
                        <a:rPr lang="en-ZA" sz="1600" b="0">
                          <a:solidFill>
                            <a:srgbClr val="20364A"/>
                          </a:solidFill>
                          <a:latin typeface="Aptos" panose="020B0004020202020204" pitchFamily="34" charset="0"/>
                        </a:rPr>
                        <a:t>Stone</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0.652</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0.667</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0.659</a:t>
                      </a:r>
                    </a:p>
                  </a:txBody>
                  <a:tcPr marL="101600" marR="63500" marT="50800" marB="38100" anchor="ctr">
                    <a:solidFill>
                      <a:srgbClr val="EDF3F5"/>
                    </a:solidFill>
                  </a:tcPr>
                </a:tc>
                <a:extLst>
                  <a:ext uri="{0D108BD9-81ED-4DB2-BD59-A6C34878D82A}">
                    <a16:rowId xmlns:a16="http://schemas.microsoft.com/office/drawing/2014/main" val="2244667597"/>
                  </a:ext>
                </a:extLst>
              </a:tr>
              <a:tr h="436563">
                <a:tc>
                  <a:txBody>
                    <a:bodyPr/>
                    <a:lstStyle/>
                    <a:p>
                      <a:r>
                        <a:rPr lang="en-ZA" sz="1600" b="0">
                          <a:solidFill>
                            <a:srgbClr val="20364A"/>
                          </a:solidFill>
                          <a:latin typeface="Aptos" panose="020B0004020202020204" pitchFamily="34" charset="0"/>
                        </a:rPr>
                        <a:t>Concrete</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0.735</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0.678</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0.705</a:t>
                      </a:r>
                    </a:p>
                  </a:txBody>
                  <a:tcPr marL="101600" marR="63500" marT="50800" marB="38100" anchor="ctr">
                    <a:solidFill>
                      <a:srgbClr val="FFFFFF"/>
                    </a:solidFill>
                  </a:tcPr>
                </a:tc>
                <a:extLst>
                  <a:ext uri="{0D108BD9-81ED-4DB2-BD59-A6C34878D82A}">
                    <a16:rowId xmlns:a16="http://schemas.microsoft.com/office/drawing/2014/main" val="2241191354"/>
                  </a:ext>
                </a:extLst>
              </a:tr>
              <a:tr h="436563">
                <a:tc>
                  <a:txBody>
                    <a:bodyPr/>
                    <a:lstStyle/>
                    <a:p>
                      <a:r>
                        <a:rPr lang="en-ZA" sz="1600" b="0">
                          <a:solidFill>
                            <a:srgbClr val="20364A"/>
                          </a:solidFill>
                          <a:latin typeface="Aptos" panose="020B0004020202020204" pitchFamily="34" charset="0"/>
                        </a:rPr>
                        <a:t>Ceramic</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1.000</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0.578</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0.732</a:t>
                      </a:r>
                    </a:p>
                  </a:txBody>
                  <a:tcPr marL="101600" marR="63500" marT="50800" marB="38100" anchor="ctr">
                    <a:solidFill>
                      <a:srgbClr val="EDF3F5"/>
                    </a:solidFill>
                  </a:tcPr>
                </a:tc>
                <a:extLst>
                  <a:ext uri="{0D108BD9-81ED-4DB2-BD59-A6C34878D82A}">
                    <a16:rowId xmlns:a16="http://schemas.microsoft.com/office/drawing/2014/main" val="1027938047"/>
                  </a:ext>
                </a:extLst>
              </a:tr>
              <a:tr h="436563">
                <a:tc>
                  <a:txBody>
                    <a:bodyPr/>
                    <a:lstStyle/>
                    <a:p>
                      <a:r>
                        <a:rPr lang="en-ZA" sz="1600" b="0">
                          <a:solidFill>
                            <a:srgbClr val="20364A"/>
                          </a:solidFill>
                          <a:latin typeface="Aptos" panose="020B0004020202020204" pitchFamily="34" charset="0"/>
                        </a:rPr>
                        <a:t>Fabric</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0.938</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1.000</a:t>
                      </a:r>
                    </a:p>
                  </a:txBody>
                  <a:tcPr marL="101600" marR="63500" marT="50800" marB="38100" anchor="ctr">
                    <a:solidFill>
                      <a:srgbClr val="FFFFFF"/>
                    </a:solidFill>
                  </a:tcPr>
                </a:tc>
                <a:tc>
                  <a:txBody>
                    <a:bodyPr/>
                    <a:lstStyle/>
                    <a:p>
                      <a:r>
                        <a:rPr lang="en-ZA" sz="1600" b="0">
                          <a:solidFill>
                            <a:srgbClr val="20364A"/>
                          </a:solidFill>
                          <a:latin typeface="Aptos" panose="020B0004020202020204" pitchFamily="34" charset="0"/>
                        </a:rPr>
                        <a:t>0.968</a:t>
                      </a:r>
                    </a:p>
                  </a:txBody>
                  <a:tcPr marL="101600" marR="63500" marT="50800" marB="38100" anchor="ctr">
                    <a:solidFill>
                      <a:srgbClr val="FFFFFF"/>
                    </a:solidFill>
                  </a:tcPr>
                </a:tc>
                <a:extLst>
                  <a:ext uri="{0D108BD9-81ED-4DB2-BD59-A6C34878D82A}">
                    <a16:rowId xmlns:a16="http://schemas.microsoft.com/office/drawing/2014/main" val="2162683470"/>
                  </a:ext>
                </a:extLst>
              </a:tr>
              <a:tr h="436563">
                <a:tc>
                  <a:txBody>
                    <a:bodyPr/>
                    <a:lstStyle/>
                    <a:p>
                      <a:r>
                        <a:rPr lang="en-ZA" sz="1600" b="0">
                          <a:solidFill>
                            <a:srgbClr val="20364A"/>
                          </a:solidFill>
                          <a:latin typeface="Aptos" panose="020B0004020202020204" pitchFamily="34" charset="0"/>
                        </a:rPr>
                        <a:t>Leather</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0.747</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0.689</a:t>
                      </a:r>
                    </a:p>
                  </a:txBody>
                  <a:tcPr marL="101600" marR="63500" marT="50800" marB="38100" anchor="ctr">
                    <a:solidFill>
                      <a:srgbClr val="EDF3F5"/>
                    </a:solidFill>
                  </a:tcPr>
                </a:tc>
                <a:tc>
                  <a:txBody>
                    <a:bodyPr/>
                    <a:lstStyle/>
                    <a:p>
                      <a:r>
                        <a:rPr lang="en-ZA" sz="1600" b="0">
                          <a:solidFill>
                            <a:srgbClr val="20364A"/>
                          </a:solidFill>
                          <a:latin typeface="Aptos" panose="020B0004020202020204" pitchFamily="34" charset="0"/>
                        </a:rPr>
                        <a:t>0.717</a:t>
                      </a:r>
                    </a:p>
                  </a:txBody>
                  <a:tcPr marL="101600" marR="63500" marT="50800" marB="38100" anchor="ctr">
                    <a:solidFill>
                      <a:srgbClr val="EDF3F5"/>
                    </a:solidFill>
                  </a:tcPr>
                </a:tc>
                <a:extLst>
                  <a:ext uri="{0D108BD9-81ED-4DB2-BD59-A6C34878D82A}">
                    <a16:rowId xmlns:a16="http://schemas.microsoft.com/office/drawing/2014/main" val="2984071613"/>
                  </a:ext>
                </a:extLst>
              </a:tr>
            </a:tbl>
          </a:graphicData>
        </a:graphic>
      </p:graphicFrame>
      <p:sp>
        <p:nvSpPr>
          <p:cNvPr id="6" name="TextBox 5">
            <a:extLst>
              <a:ext uri="{FF2B5EF4-FFF2-40B4-BE49-F238E27FC236}">
                <a16:creationId xmlns:a16="http://schemas.microsoft.com/office/drawing/2014/main" id="{EE4E320F-B827-C373-2CE2-DF660007FB52}"/>
              </a:ext>
            </a:extLst>
          </p:cNvPr>
          <p:cNvSpPr txBox="1"/>
          <p:nvPr/>
        </p:nvSpPr>
        <p:spPr>
          <a:xfrm>
            <a:off x="558800" y="1422399"/>
            <a:ext cx="6604000" cy="355600"/>
          </a:xfrm>
          <a:prstGeom prst="rect">
            <a:avLst/>
          </a:prstGeom>
          <a:noFill/>
        </p:spPr>
        <p:txBody>
          <a:bodyPr vert="horz" wrap="square" lIns="0" tIns="0" rIns="0" bIns="0" rtlCol="0">
            <a:noAutofit/>
          </a:bodyPr>
          <a:lstStyle/>
          <a:p>
            <a:pPr>
              <a:spcAft>
                <a:spcPts val="600"/>
              </a:spcAft>
            </a:pPr>
            <a:r>
              <a:rPr lang="en-US" sz="1900" b="1">
                <a:solidFill>
                  <a:srgbClr val="20364A"/>
                </a:solidFill>
                <a:latin typeface="Aptos" panose="020B0004020202020204" pitchFamily="34" charset="0"/>
              </a:rPr>
              <a:t>Confusion counts (90 per true class)</a:t>
            </a:r>
            <a:endParaRPr lang="en-ZA" sz="1900" b="1">
              <a:solidFill>
                <a:srgbClr val="20364A"/>
              </a:solidFill>
              <a:latin typeface="Aptos" panose="020B0004020202020204" pitchFamily="34" charset="0"/>
            </a:endParaRPr>
          </a:p>
        </p:txBody>
      </p:sp>
      <p:sp>
        <p:nvSpPr>
          <p:cNvPr id="7" name="TextBox 6">
            <a:extLst>
              <a:ext uri="{FF2B5EF4-FFF2-40B4-BE49-F238E27FC236}">
                <a16:creationId xmlns:a16="http://schemas.microsoft.com/office/drawing/2014/main" id="{43A7F3AA-9B0B-C757-F08E-5AC900817AEB}"/>
              </a:ext>
            </a:extLst>
          </p:cNvPr>
          <p:cNvSpPr txBox="1"/>
          <p:nvPr/>
        </p:nvSpPr>
        <p:spPr>
          <a:xfrm>
            <a:off x="7429500" y="1422399"/>
            <a:ext cx="4229100" cy="355600"/>
          </a:xfrm>
          <a:prstGeom prst="rect">
            <a:avLst/>
          </a:prstGeom>
          <a:noFill/>
        </p:spPr>
        <p:txBody>
          <a:bodyPr vert="horz" wrap="square" lIns="0" tIns="0" rIns="0" bIns="0" rtlCol="0">
            <a:noAutofit/>
          </a:bodyPr>
          <a:lstStyle/>
          <a:p>
            <a:pPr>
              <a:spcAft>
                <a:spcPts val="600"/>
              </a:spcAft>
            </a:pPr>
            <a:r>
              <a:rPr lang="en-ZA" sz="1900" b="1">
                <a:solidFill>
                  <a:srgbClr val="20364A"/>
                </a:solidFill>
                <a:latin typeface="Aptos" panose="020B0004020202020204" pitchFamily="34" charset="0"/>
              </a:rPr>
              <a:t>Precision, recall and F1</a:t>
            </a:r>
          </a:p>
        </p:txBody>
      </p:sp>
      <p:sp>
        <p:nvSpPr>
          <p:cNvPr id="8" name="TextBox 7">
            <a:extLst>
              <a:ext uri="{FF2B5EF4-FFF2-40B4-BE49-F238E27FC236}">
                <a16:creationId xmlns:a16="http://schemas.microsoft.com/office/drawing/2014/main" id="{3D4C13FE-E112-25F8-27B0-EEF53AA19D1C}"/>
              </a:ext>
            </a:extLst>
          </p:cNvPr>
          <p:cNvSpPr txBox="1"/>
          <p:nvPr/>
        </p:nvSpPr>
        <p:spPr>
          <a:xfrm>
            <a:off x="558800" y="5562599"/>
            <a:ext cx="11049000" cy="355600"/>
          </a:xfrm>
          <a:prstGeom prst="rect">
            <a:avLst/>
          </a:prstGeom>
          <a:noFill/>
        </p:spPr>
        <p:txBody>
          <a:bodyPr vert="horz" wrap="square" lIns="0" tIns="0" rIns="0" bIns="0" rtlCol="0">
            <a:noAutofit/>
          </a:bodyPr>
          <a:lstStyle/>
          <a:p>
            <a:pPr>
              <a:spcAft>
                <a:spcPts val="600"/>
              </a:spcAft>
            </a:pPr>
            <a:r>
              <a:rPr lang="en-US" sz="1500">
                <a:solidFill>
                  <a:srgbClr val="20364A"/>
                </a:solidFill>
                <a:latin typeface="Aptos" panose="020B0004020202020204" pitchFamily="34" charset="0"/>
              </a:rPr>
              <a:t>Wd wood   Mt metal   St stone   Co concrete   Ce ceramic   Fa fabric   Le leather</a:t>
            </a:r>
            <a:endParaRPr lang="en-ZA" sz="1500">
              <a:solidFill>
                <a:srgbClr val="20364A"/>
              </a:solidFill>
              <a:latin typeface="Aptos" panose="020B0004020202020204" pitchFamily="34" charset="0"/>
            </a:endParaRPr>
          </a:p>
        </p:txBody>
      </p:sp>
      <p:sp>
        <p:nvSpPr>
          <p:cNvPr id="9" name="TextBox 8">
            <a:extLst>
              <a:ext uri="{FF2B5EF4-FFF2-40B4-BE49-F238E27FC236}">
                <a16:creationId xmlns:a16="http://schemas.microsoft.com/office/drawing/2014/main" id="{E022CAA2-5A47-BA2B-DCB4-1B7C6859ABAA}"/>
              </a:ext>
            </a:extLst>
          </p:cNvPr>
          <p:cNvSpPr txBox="1"/>
          <p:nvPr/>
        </p:nvSpPr>
        <p:spPr>
          <a:xfrm>
            <a:off x="609600" y="6095999"/>
            <a:ext cx="10922000" cy="431800"/>
          </a:xfrm>
          <a:prstGeom prst="rect">
            <a:avLst/>
          </a:prstGeom>
          <a:noFill/>
        </p:spPr>
        <p:txBody>
          <a:bodyPr vert="horz" wrap="square" lIns="0" tIns="0" rIns="0" bIns="0" rtlCol="0">
            <a:noAutofit/>
          </a:bodyPr>
          <a:lstStyle/>
          <a:p>
            <a:pPr>
              <a:spcAft>
                <a:spcPts val="600"/>
              </a:spcAft>
            </a:pPr>
            <a:r>
              <a:rPr lang="en-US" sz="2400" b="1">
                <a:solidFill>
                  <a:srgbClr val="20364A"/>
                </a:solidFill>
                <a:latin typeface="Aptos" panose="020B0004020202020204" pitchFamily="34" charset="0"/>
              </a:rPr>
              <a:t>Ceramic to stone: 30 errors. Leather to concrete: 22 errors.</a:t>
            </a:r>
            <a:endParaRPr lang="en-ZA" sz="2400" b="1">
              <a:solidFill>
                <a:srgbClr val="20364A"/>
              </a:solidFill>
              <a:latin typeface="Aptos" panose="020B0004020202020204" pitchFamily="34" charset="0"/>
            </a:endParaRPr>
          </a:p>
        </p:txBody>
      </p:sp>
    </p:spTree>
    <p:extLst>
      <p:ext uri="{BB962C8B-B14F-4D97-AF65-F5344CB8AC3E}">
        <p14:creationId xmlns:p14="http://schemas.microsoft.com/office/powerpoint/2010/main" val="570693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AE863F-7572-BA80-4348-2F74B109C45B}"/>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Correct and incorrect predictions</a:t>
            </a:r>
          </a:p>
        </p:txBody>
      </p:sp>
      <p:sp>
        <p:nvSpPr>
          <p:cNvPr id="3" name="TextBox 2">
            <a:extLst>
              <a:ext uri="{FF2B5EF4-FFF2-40B4-BE49-F238E27FC236}">
                <a16:creationId xmlns:a16="http://schemas.microsoft.com/office/drawing/2014/main" id="{FDAFD808-4D61-8FA5-2245-D4D164C648DD}"/>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9</a:t>
            </a:r>
          </a:p>
        </p:txBody>
      </p:sp>
      <p:pic>
        <p:nvPicPr>
          <p:cNvPr id="5" name="Picture 4">
            <a:extLst>
              <a:ext uri="{FF2B5EF4-FFF2-40B4-BE49-F238E27FC236}">
                <a16:creationId xmlns:a16="http://schemas.microsoft.com/office/drawing/2014/main" id="{D41799D9-7DCF-35B8-12A3-EDFCC693A99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41500"/>
            <a:ext cx="2489200" cy="2489200"/>
          </a:xfrm>
          <a:prstGeom prst="rect">
            <a:avLst/>
          </a:prstGeom>
        </p:spPr>
      </p:pic>
      <p:sp>
        <p:nvSpPr>
          <p:cNvPr id="6" name="TextBox 5">
            <a:extLst>
              <a:ext uri="{FF2B5EF4-FFF2-40B4-BE49-F238E27FC236}">
                <a16:creationId xmlns:a16="http://schemas.microsoft.com/office/drawing/2014/main" id="{595FE17A-7998-EB42-80AA-AFA3984EF6F0}"/>
              </a:ext>
            </a:extLst>
          </p:cNvPr>
          <p:cNvSpPr txBox="1"/>
          <p:nvPr/>
        </p:nvSpPr>
        <p:spPr>
          <a:xfrm>
            <a:off x="609600" y="4559299"/>
            <a:ext cx="2603500" cy="355600"/>
          </a:xfrm>
          <a:prstGeom prst="rect">
            <a:avLst/>
          </a:prstGeom>
          <a:noFill/>
        </p:spPr>
        <p:txBody>
          <a:bodyPr vert="horz" wrap="square" lIns="0" tIns="0" rIns="0" bIns="0" rtlCol="0">
            <a:noAutofit/>
          </a:bodyPr>
          <a:lstStyle/>
          <a:p>
            <a:pPr>
              <a:spcAft>
                <a:spcPts val="600"/>
              </a:spcAft>
            </a:pPr>
            <a:r>
              <a:rPr lang="en-ZA" sz="1900" b="1">
                <a:solidFill>
                  <a:srgbClr val="20364A"/>
                </a:solidFill>
                <a:latin typeface="Aptos" panose="020B0004020202020204" pitchFamily="34" charset="0"/>
              </a:rPr>
              <a:t>True: wood</a:t>
            </a:r>
          </a:p>
        </p:txBody>
      </p:sp>
      <p:sp>
        <p:nvSpPr>
          <p:cNvPr id="7" name="TextBox 6">
            <a:extLst>
              <a:ext uri="{FF2B5EF4-FFF2-40B4-BE49-F238E27FC236}">
                <a16:creationId xmlns:a16="http://schemas.microsoft.com/office/drawing/2014/main" id="{C5AA0F2D-023A-99DD-2504-91D4FC7B3A6F}"/>
              </a:ext>
            </a:extLst>
          </p:cNvPr>
          <p:cNvSpPr txBox="1"/>
          <p:nvPr/>
        </p:nvSpPr>
        <p:spPr>
          <a:xfrm>
            <a:off x="609600" y="4978399"/>
            <a:ext cx="2603500" cy="355600"/>
          </a:xfrm>
          <a:prstGeom prst="rect">
            <a:avLst/>
          </a:prstGeom>
          <a:noFill/>
        </p:spPr>
        <p:txBody>
          <a:bodyPr vert="horz" wrap="square" lIns="0" tIns="0" rIns="0" bIns="0" rtlCol="0">
            <a:noAutofit/>
          </a:bodyPr>
          <a:lstStyle/>
          <a:p>
            <a:pPr>
              <a:spcAft>
                <a:spcPts val="600"/>
              </a:spcAft>
            </a:pPr>
            <a:r>
              <a:rPr lang="en-ZA">
                <a:solidFill>
                  <a:srgbClr val="20364A"/>
                </a:solidFill>
                <a:latin typeface="Aptos" panose="020B0004020202020204" pitchFamily="34" charset="0"/>
              </a:rPr>
              <a:t>Predicted: wood</a:t>
            </a:r>
          </a:p>
        </p:txBody>
      </p:sp>
      <p:sp>
        <p:nvSpPr>
          <p:cNvPr id="8" name="TextBox 7">
            <a:extLst>
              <a:ext uri="{FF2B5EF4-FFF2-40B4-BE49-F238E27FC236}">
                <a16:creationId xmlns:a16="http://schemas.microsoft.com/office/drawing/2014/main" id="{A13F4364-A497-4711-609E-E8ED719B54D4}"/>
              </a:ext>
            </a:extLst>
          </p:cNvPr>
          <p:cNvSpPr txBox="1"/>
          <p:nvPr/>
        </p:nvSpPr>
        <p:spPr>
          <a:xfrm>
            <a:off x="609600" y="5384799"/>
            <a:ext cx="2603500" cy="355600"/>
          </a:xfrm>
          <a:prstGeom prst="rect">
            <a:avLst/>
          </a:prstGeom>
          <a:noFill/>
        </p:spPr>
        <p:txBody>
          <a:bodyPr vert="horz" wrap="square" lIns="0" tIns="0" rIns="0" bIns="0" rtlCol="0">
            <a:noAutofit/>
          </a:bodyPr>
          <a:lstStyle/>
          <a:p>
            <a:pPr>
              <a:spcAft>
                <a:spcPts val="600"/>
              </a:spcAft>
            </a:pPr>
            <a:r>
              <a:rPr lang="en-ZA">
                <a:solidFill>
                  <a:srgbClr val="137F82"/>
                </a:solidFill>
                <a:latin typeface="Aptos" panose="020B0004020202020204" pitchFamily="34" charset="0"/>
              </a:rPr>
              <a:t>Score: 99.5%</a:t>
            </a:r>
          </a:p>
        </p:txBody>
      </p:sp>
      <p:pic>
        <p:nvPicPr>
          <p:cNvPr id="10" name="Picture 9">
            <a:extLst>
              <a:ext uri="{FF2B5EF4-FFF2-40B4-BE49-F238E27FC236}">
                <a16:creationId xmlns:a16="http://schemas.microsoft.com/office/drawing/2014/main" id="{E2880E09-9A1B-B27C-B5E8-B6A637F5D1F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454400" y="1841500"/>
            <a:ext cx="2489200" cy="2489200"/>
          </a:xfrm>
          <a:prstGeom prst="rect">
            <a:avLst/>
          </a:prstGeom>
        </p:spPr>
      </p:pic>
      <p:sp>
        <p:nvSpPr>
          <p:cNvPr id="11" name="TextBox 10">
            <a:extLst>
              <a:ext uri="{FF2B5EF4-FFF2-40B4-BE49-F238E27FC236}">
                <a16:creationId xmlns:a16="http://schemas.microsoft.com/office/drawing/2014/main" id="{D953FCE6-90C7-11CD-CD29-DFCF77D36569}"/>
              </a:ext>
            </a:extLst>
          </p:cNvPr>
          <p:cNvSpPr txBox="1"/>
          <p:nvPr/>
        </p:nvSpPr>
        <p:spPr>
          <a:xfrm>
            <a:off x="3454400" y="4559299"/>
            <a:ext cx="2603500" cy="355600"/>
          </a:xfrm>
          <a:prstGeom prst="rect">
            <a:avLst/>
          </a:prstGeom>
          <a:noFill/>
        </p:spPr>
        <p:txBody>
          <a:bodyPr vert="horz" wrap="square" lIns="0" tIns="0" rIns="0" bIns="0" rtlCol="0">
            <a:noAutofit/>
          </a:bodyPr>
          <a:lstStyle/>
          <a:p>
            <a:pPr>
              <a:spcAft>
                <a:spcPts val="600"/>
              </a:spcAft>
            </a:pPr>
            <a:r>
              <a:rPr lang="en-ZA" sz="1900" b="1">
                <a:solidFill>
                  <a:srgbClr val="20364A"/>
                </a:solidFill>
                <a:latin typeface="Aptos" panose="020B0004020202020204" pitchFamily="34" charset="0"/>
              </a:rPr>
              <a:t>True: metal</a:t>
            </a:r>
          </a:p>
        </p:txBody>
      </p:sp>
      <p:sp>
        <p:nvSpPr>
          <p:cNvPr id="12" name="TextBox 11">
            <a:extLst>
              <a:ext uri="{FF2B5EF4-FFF2-40B4-BE49-F238E27FC236}">
                <a16:creationId xmlns:a16="http://schemas.microsoft.com/office/drawing/2014/main" id="{8B015249-AA48-0ABF-9D99-30BFC4B0995A}"/>
              </a:ext>
            </a:extLst>
          </p:cNvPr>
          <p:cNvSpPr txBox="1"/>
          <p:nvPr/>
        </p:nvSpPr>
        <p:spPr>
          <a:xfrm>
            <a:off x="3454400" y="4978399"/>
            <a:ext cx="2603500" cy="355600"/>
          </a:xfrm>
          <a:prstGeom prst="rect">
            <a:avLst/>
          </a:prstGeom>
          <a:noFill/>
        </p:spPr>
        <p:txBody>
          <a:bodyPr vert="horz" wrap="square" lIns="0" tIns="0" rIns="0" bIns="0" rtlCol="0">
            <a:noAutofit/>
          </a:bodyPr>
          <a:lstStyle/>
          <a:p>
            <a:pPr>
              <a:spcAft>
                <a:spcPts val="600"/>
              </a:spcAft>
            </a:pPr>
            <a:r>
              <a:rPr lang="en-ZA">
                <a:solidFill>
                  <a:srgbClr val="20364A"/>
                </a:solidFill>
                <a:latin typeface="Aptos" panose="020B0004020202020204" pitchFamily="34" charset="0"/>
              </a:rPr>
              <a:t>Predicted: metal</a:t>
            </a:r>
          </a:p>
        </p:txBody>
      </p:sp>
      <p:sp>
        <p:nvSpPr>
          <p:cNvPr id="13" name="TextBox 12">
            <a:extLst>
              <a:ext uri="{FF2B5EF4-FFF2-40B4-BE49-F238E27FC236}">
                <a16:creationId xmlns:a16="http://schemas.microsoft.com/office/drawing/2014/main" id="{A3CCAE77-ACEA-24A7-773D-31450E43264C}"/>
              </a:ext>
            </a:extLst>
          </p:cNvPr>
          <p:cNvSpPr txBox="1"/>
          <p:nvPr/>
        </p:nvSpPr>
        <p:spPr>
          <a:xfrm>
            <a:off x="3454400" y="5384799"/>
            <a:ext cx="2603500" cy="355600"/>
          </a:xfrm>
          <a:prstGeom prst="rect">
            <a:avLst/>
          </a:prstGeom>
          <a:noFill/>
        </p:spPr>
        <p:txBody>
          <a:bodyPr vert="horz" wrap="square" lIns="0" tIns="0" rIns="0" bIns="0" rtlCol="0">
            <a:noAutofit/>
          </a:bodyPr>
          <a:lstStyle/>
          <a:p>
            <a:pPr>
              <a:spcAft>
                <a:spcPts val="600"/>
              </a:spcAft>
            </a:pPr>
            <a:r>
              <a:rPr lang="en-ZA">
                <a:solidFill>
                  <a:srgbClr val="137F82"/>
                </a:solidFill>
                <a:latin typeface="Aptos" panose="020B0004020202020204" pitchFamily="34" charset="0"/>
              </a:rPr>
              <a:t>Score: 96.7%</a:t>
            </a:r>
          </a:p>
        </p:txBody>
      </p:sp>
      <p:pic>
        <p:nvPicPr>
          <p:cNvPr id="15" name="Picture 14">
            <a:extLst>
              <a:ext uri="{FF2B5EF4-FFF2-40B4-BE49-F238E27FC236}">
                <a16:creationId xmlns:a16="http://schemas.microsoft.com/office/drawing/2014/main" id="{74642ED5-CB12-8C02-9003-5A9FF0B3CA1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99200" y="1841500"/>
            <a:ext cx="2489200" cy="2489200"/>
          </a:xfrm>
          <a:prstGeom prst="rect">
            <a:avLst/>
          </a:prstGeom>
        </p:spPr>
      </p:pic>
      <p:sp>
        <p:nvSpPr>
          <p:cNvPr id="16" name="TextBox 15">
            <a:extLst>
              <a:ext uri="{FF2B5EF4-FFF2-40B4-BE49-F238E27FC236}">
                <a16:creationId xmlns:a16="http://schemas.microsoft.com/office/drawing/2014/main" id="{5C96E212-71A6-8C75-1216-1567D6E68B04}"/>
              </a:ext>
            </a:extLst>
          </p:cNvPr>
          <p:cNvSpPr txBox="1"/>
          <p:nvPr/>
        </p:nvSpPr>
        <p:spPr>
          <a:xfrm>
            <a:off x="6299200" y="4559299"/>
            <a:ext cx="2603500" cy="355600"/>
          </a:xfrm>
          <a:prstGeom prst="rect">
            <a:avLst/>
          </a:prstGeom>
          <a:noFill/>
        </p:spPr>
        <p:txBody>
          <a:bodyPr vert="horz" wrap="square" lIns="0" tIns="0" rIns="0" bIns="0" rtlCol="0">
            <a:noAutofit/>
          </a:bodyPr>
          <a:lstStyle/>
          <a:p>
            <a:pPr>
              <a:spcAft>
                <a:spcPts val="600"/>
              </a:spcAft>
            </a:pPr>
            <a:r>
              <a:rPr lang="en-ZA" sz="1900" b="1">
                <a:solidFill>
                  <a:srgbClr val="20364A"/>
                </a:solidFill>
                <a:latin typeface="Aptos" panose="020B0004020202020204" pitchFamily="34" charset="0"/>
              </a:rPr>
              <a:t>True: ceramic</a:t>
            </a:r>
          </a:p>
        </p:txBody>
      </p:sp>
      <p:sp>
        <p:nvSpPr>
          <p:cNvPr id="17" name="TextBox 16">
            <a:extLst>
              <a:ext uri="{FF2B5EF4-FFF2-40B4-BE49-F238E27FC236}">
                <a16:creationId xmlns:a16="http://schemas.microsoft.com/office/drawing/2014/main" id="{1A6A32EF-CC52-98DC-25E8-8587F10FB7A5}"/>
              </a:ext>
            </a:extLst>
          </p:cNvPr>
          <p:cNvSpPr txBox="1"/>
          <p:nvPr/>
        </p:nvSpPr>
        <p:spPr>
          <a:xfrm>
            <a:off x="6299200" y="4978399"/>
            <a:ext cx="2603500" cy="355600"/>
          </a:xfrm>
          <a:prstGeom prst="rect">
            <a:avLst/>
          </a:prstGeom>
          <a:noFill/>
        </p:spPr>
        <p:txBody>
          <a:bodyPr vert="horz" wrap="square" lIns="0" tIns="0" rIns="0" bIns="0" rtlCol="0">
            <a:noAutofit/>
          </a:bodyPr>
          <a:lstStyle/>
          <a:p>
            <a:pPr>
              <a:spcAft>
                <a:spcPts val="600"/>
              </a:spcAft>
            </a:pPr>
            <a:r>
              <a:rPr lang="en-ZA">
                <a:solidFill>
                  <a:srgbClr val="20364A"/>
                </a:solidFill>
                <a:latin typeface="Aptos" panose="020B0004020202020204" pitchFamily="34" charset="0"/>
              </a:rPr>
              <a:t>Predicted: stone</a:t>
            </a:r>
          </a:p>
        </p:txBody>
      </p:sp>
      <p:sp>
        <p:nvSpPr>
          <p:cNvPr id="18" name="TextBox 17">
            <a:extLst>
              <a:ext uri="{FF2B5EF4-FFF2-40B4-BE49-F238E27FC236}">
                <a16:creationId xmlns:a16="http://schemas.microsoft.com/office/drawing/2014/main" id="{5BA8E716-524F-0780-3141-217793085AED}"/>
              </a:ext>
            </a:extLst>
          </p:cNvPr>
          <p:cNvSpPr txBox="1"/>
          <p:nvPr/>
        </p:nvSpPr>
        <p:spPr>
          <a:xfrm>
            <a:off x="6299200" y="5384799"/>
            <a:ext cx="2603500" cy="355600"/>
          </a:xfrm>
          <a:prstGeom prst="rect">
            <a:avLst/>
          </a:prstGeom>
          <a:noFill/>
        </p:spPr>
        <p:txBody>
          <a:bodyPr vert="horz" wrap="square" lIns="0" tIns="0" rIns="0" bIns="0" rtlCol="0">
            <a:noAutofit/>
          </a:bodyPr>
          <a:lstStyle/>
          <a:p>
            <a:pPr>
              <a:spcAft>
                <a:spcPts val="600"/>
              </a:spcAft>
            </a:pPr>
            <a:r>
              <a:rPr lang="en-ZA">
                <a:solidFill>
                  <a:srgbClr val="A25524"/>
                </a:solidFill>
                <a:latin typeface="Aptos" panose="020B0004020202020204" pitchFamily="34" charset="0"/>
              </a:rPr>
              <a:t>Score: 96.9%</a:t>
            </a:r>
          </a:p>
        </p:txBody>
      </p:sp>
      <p:pic>
        <p:nvPicPr>
          <p:cNvPr id="20" name="Picture 19">
            <a:extLst>
              <a:ext uri="{FF2B5EF4-FFF2-40B4-BE49-F238E27FC236}">
                <a16:creationId xmlns:a16="http://schemas.microsoft.com/office/drawing/2014/main" id="{9C7B279E-2190-5A50-17F6-E9217271844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144000" y="1841500"/>
            <a:ext cx="2489200" cy="2489200"/>
          </a:xfrm>
          <a:prstGeom prst="rect">
            <a:avLst/>
          </a:prstGeom>
        </p:spPr>
      </p:pic>
      <p:sp>
        <p:nvSpPr>
          <p:cNvPr id="21" name="TextBox 20">
            <a:extLst>
              <a:ext uri="{FF2B5EF4-FFF2-40B4-BE49-F238E27FC236}">
                <a16:creationId xmlns:a16="http://schemas.microsoft.com/office/drawing/2014/main" id="{DC1E23BB-581A-349F-FBED-AA9D319B0AD4}"/>
              </a:ext>
            </a:extLst>
          </p:cNvPr>
          <p:cNvSpPr txBox="1"/>
          <p:nvPr/>
        </p:nvSpPr>
        <p:spPr>
          <a:xfrm>
            <a:off x="9144000" y="4559299"/>
            <a:ext cx="2603500" cy="355600"/>
          </a:xfrm>
          <a:prstGeom prst="rect">
            <a:avLst/>
          </a:prstGeom>
          <a:noFill/>
        </p:spPr>
        <p:txBody>
          <a:bodyPr vert="horz" wrap="square" lIns="0" tIns="0" rIns="0" bIns="0" rtlCol="0">
            <a:noAutofit/>
          </a:bodyPr>
          <a:lstStyle/>
          <a:p>
            <a:pPr>
              <a:spcAft>
                <a:spcPts val="600"/>
              </a:spcAft>
            </a:pPr>
            <a:r>
              <a:rPr lang="en-ZA" sz="1900" b="1">
                <a:solidFill>
                  <a:srgbClr val="20364A"/>
                </a:solidFill>
                <a:latin typeface="Aptos" panose="020B0004020202020204" pitchFamily="34" charset="0"/>
              </a:rPr>
              <a:t>True: leather</a:t>
            </a:r>
          </a:p>
        </p:txBody>
      </p:sp>
      <p:sp>
        <p:nvSpPr>
          <p:cNvPr id="22" name="TextBox 21">
            <a:extLst>
              <a:ext uri="{FF2B5EF4-FFF2-40B4-BE49-F238E27FC236}">
                <a16:creationId xmlns:a16="http://schemas.microsoft.com/office/drawing/2014/main" id="{DA8BD4D2-A288-7435-0563-DA2A8464B04A}"/>
              </a:ext>
            </a:extLst>
          </p:cNvPr>
          <p:cNvSpPr txBox="1"/>
          <p:nvPr/>
        </p:nvSpPr>
        <p:spPr>
          <a:xfrm>
            <a:off x="9144000" y="4978399"/>
            <a:ext cx="2603500" cy="355600"/>
          </a:xfrm>
          <a:prstGeom prst="rect">
            <a:avLst/>
          </a:prstGeom>
          <a:noFill/>
        </p:spPr>
        <p:txBody>
          <a:bodyPr vert="horz" wrap="square" lIns="0" tIns="0" rIns="0" bIns="0" rtlCol="0">
            <a:noAutofit/>
          </a:bodyPr>
          <a:lstStyle/>
          <a:p>
            <a:pPr>
              <a:spcAft>
                <a:spcPts val="600"/>
              </a:spcAft>
            </a:pPr>
            <a:r>
              <a:rPr lang="en-ZA">
                <a:solidFill>
                  <a:srgbClr val="20364A"/>
                </a:solidFill>
                <a:latin typeface="Aptos" panose="020B0004020202020204" pitchFamily="34" charset="0"/>
              </a:rPr>
              <a:t>Predicted: concrete</a:t>
            </a:r>
          </a:p>
        </p:txBody>
      </p:sp>
      <p:sp>
        <p:nvSpPr>
          <p:cNvPr id="23" name="TextBox 22">
            <a:extLst>
              <a:ext uri="{FF2B5EF4-FFF2-40B4-BE49-F238E27FC236}">
                <a16:creationId xmlns:a16="http://schemas.microsoft.com/office/drawing/2014/main" id="{65B4728E-62BA-CB9B-D2FF-CC3B542E0FC3}"/>
              </a:ext>
            </a:extLst>
          </p:cNvPr>
          <p:cNvSpPr txBox="1"/>
          <p:nvPr/>
        </p:nvSpPr>
        <p:spPr>
          <a:xfrm>
            <a:off x="9144000" y="5384799"/>
            <a:ext cx="2603500" cy="355600"/>
          </a:xfrm>
          <a:prstGeom prst="rect">
            <a:avLst/>
          </a:prstGeom>
          <a:noFill/>
        </p:spPr>
        <p:txBody>
          <a:bodyPr vert="horz" wrap="square" lIns="0" tIns="0" rIns="0" bIns="0" rtlCol="0">
            <a:noAutofit/>
          </a:bodyPr>
          <a:lstStyle/>
          <a:p>
            <a:pPr>
              <a:spcAft>
                <a:spcPts val="600"/>
              </a:spcAft>
            </a:pPr>
            <a:r>
              <a:rPr lang="en-ZA">
                <a:solidFill>
                  <a:srgbClr val="A25524"/>
                </a:solidFill>
                <a:latin typeface="Aptos" panose="020B0004020202020204" pitchFamily="34" charset="0"/>
              </a:rPr>
              <a:t>Score: 89.9%</a:t>
            </a:r>
          </a:p>
        </p:txBody>
      </p:sp>
      <p:sp>
        <p:nvSpPr>
          <p:cNvPr id="24" name="TextBox 23">
            <a:extLst>
              <a:ext uri="{FF2B5EF4-FFF2-40B4-BE49-F238E27FC236}">
                <a16:creationId xmlns:a16="http://schemas.microsoft.com/office/drawing/2014/main" id="{DD7F15E2-4C1F-7D98-AED6-EA9C41891249}"/>
              </a:ext>
            </a:extLst>
          </p:cNvPr>
          <p:cNvSpPr txBox="1"/>
          <p:nvPr/>
        </p:nvSpPr>
        <p:spPr>
          <a:xfrm>
            <a:off x="609600" y="6121399"/>
            <a:ext cx="10922000" cy="444500"/>
          </a:xfrm>
          <a:prstGeom prst="rect">
            <a:avLst/>
          </a:prstGeom>
          <a:noFill/>
        </p:spPr>
        <p:txBody>
          <a:bodyPr vert="horz" wrap="square" lIns="0" tIns="0" rIns="0" bIns="0" rtlCol="0">
            <a:noAutofit/>
          </a:bodyPr>
          <a:lstStyle/>
          <a:p>
            <a:pPr>
              <a:spcAft>
                <a:spcPts val="600"/>
              </a:spcAft>
            </a:pPr>
            <a:r>
              <a:rPr lang="en-US" sz="2300" b="1">
                <a:solidFill>
                  <a:srgbClr val="20364A"/>
                </a:solidFill>
                <a:latin typeface="Aptos" panose="020B0004020202020204" pitchFamily="34" charset="0"/>
              </a:rPr>
              <a:t>A high predicted probability can accompany an incorrect label.</a:t>
            </a:r>
            <a:endParaRPr lang="en-ZA" sz="2300" b="1">
              <a:solidFill>
                <a:srgbClr val="20364A"/>
              </a:solidFill>
              <a:latin typeface="Aptos" panose="020B0004020202020204" pitchFamily="34" charset="0"/>
            </a:endParaRPr>
          </a:p>
        </p:txBody>
      </p:sp>
    </p:spTree>
    <p:extLst>
      <p:ext uri="{BB962C8B-B14F-4D97-AF65-F5344CB8AC3E}">
        <p14:creationId xmlns:p14="http://schemas.microsoft.com/office/powerpoint/2010/main" val="684431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FF1960-3CD1-8143-DC2A-268DE02E429A}"/>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US" sz="3200" b="1">
                <a:solidFill>
                  <a:srgbClr val="142C40"/>
                </a:solidFill>
                <a:latin typeface="Aptos" panose="020B0004020202020204" pitchFamily="34" charset="0"/>
              </a:rPr>
              <a:t>JPEG compression exposes a weakness</a:t>
            </a:r>
            <a:endParaRPr lang="en-ZA" sz="3200" b="1">
              <a:solidFill>
                <a:srgbClr val="142C40"/>
              </a:solidFill>
              <a:latin typeface="Aptos" panose="020B0004020202020204" pitchFamily="34" charset="0"/>
            </a:endParaRPr>
          </a:p>
        </p:txBody>
      </p:sp>
      <p:sp>
        <p:nvSpPr>
          <p:cNvPr id="3" name="TextBox 2">
            <a:extLst>
              <a:ext uri="{FF2B5EF4-FFF2-40B4-BE49-F238E27FC236}">
                <a16:creationId xmlns:a16="http://schemas.microsoft.com/office/drawing/2014/main" id="{FFDB12E8-FDA7-2719-4572-37EB015D0E6A}"/>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10</a:t>
            </a:r>
          </a:p>
        </p:txBody>
      </p:sp>
      <p:sp>
        <p:nvSpPr>
          <p:cNvPr id="4" name="TextBox 3">
            <a:extLst>
              <a:ext uri="{FF2B5EF4-FFF2-40B4-BE49-F238E27FC236}">
                <a16:creationId xmlns:a16="http://schemas.microsoft.com/office/drawing/2014/main" id="{3691E3D3-D15D-BCAB-C60B-250119E6B73A}"/>
              </a:ext>
            </a:extLst>
          </p:cNvPr>
          <p:cNvSpPr txBox="1"/>
          <p:nvPr/>
        </p:nvSpPr>
        <p:spPr>
          <a:xfrm>
            <a:off x="609600" y="5626099"/>
            <a:ext cx="10985500" cy="482600"/>
          </a:xfrm>
          <a:prstGeom prst="rect">
            <a:avLst/>
          </a:prstGeom>
          <a:noFill/>
        </p:spPr>
        <p:txBody>
          <a:bodyPr vert="horz" wrap="square" lIns="0" tIns="0" rIns="0" bIns="0" rtlCol="0">
            <a:noAutofit/>
          </a:bodyPr>
          <a:lstStyle/>
          <a:p>
            <a:pPr>
              <a:spcAft>
                <a:spcPts val="600"/>
              </a:spcAft>
            </a:pPr>
            <a:r>
              <a:rPr lang="en-US" sz="2700" b="1">
                <a:solidFill>
                  <a:srgbClr val="20364A"/>
                </a:solidFill>
                <a:latin typeface="Aptos" panose="020B0004020202020204" pitchFamily="34" charset="0"/>
              </a:rPr>
              <a:t>Primary: 80.16% clean to 59.05% at JPEG quality 30</a:t>
            </a:r>
            <a:endParaRPr lang="en-ZA" sz="2700" b="1">
              <a:solidFill>
                <a:srgbClr val="20364A"/>
              </a:solidFill>
              <a:latin typeface="Aptos" panose="020B0004020202020204" pitchFamily="34" charset="0"/>
            </a:endParaRPr>
          </a:p>
        </p:txBody>
      </p:sp>
      <p:sp>
        <p:nvSpPr>
          <p:cNvPr id="5" name="TextBox 4">
            <a:extLst>
              <a:ext uri="{FF2B5EF4-FFF2-40B4-BE49-F238E27FC236}">
                <a16:creationId xmlns:a16="http://schemas.microsoft.com/office/drawing/2014/main" id="{9727D655-E046-DA5E-A76E-B565943BE50F}"/>
              </a:ext>
            </a:extLst>
          </p:cNvPr>
          <p:cNvSpPr txBox="1"/>
          <p:nvPr/>
        </p:nvSpPr>
        <p:spPr>
          <a:xfrm>
            <a:off x="609600" y="6210299"/>
            <a:ext cx="10985500" cy="368300"/>
          </a:xfrm>
          <a:prstGeom prst="rect">
            <a:avLst/>
          </a:prstGeom>
          <a:noFill/>
        </p:spPr>
        <p:txBody>
          <a:bodyPr vert="horz" wrap="square" lIns="0" tIns="0" rIns="0" bIns="0" rtlCol="0">
            <a:noAutofit/>
          </a:bodyPr>
          <a:lstStyle/>
          <a:p>
            <a:pPr>
              <a:spcAft>
                <a:spcPts val="600"/>
              </a:spcAft>
            </a:pPr>
            <a:r>
              <a:rPr lang="en-US">
                <a:solidFill>
                  <a:srgbClr val="A25524"/>
                </a:solidFill>
                <a:latin typeface="Aptos" panose="020B0004020202020204" pitchFamily="34" charset="0"/>
              </a:rPr>
              <a:t>DINOv2 corruption results are a post hoc exploratory comparison.</a:t>
            </a:r>
            <a:endParaRPr lang="en-ZA">
              <a:solidFill>
                <a:srgbClr val="A25524"/>
              </a:solidFill>
              <a:latin typeface="Aptos" panose="020B0004020202020204" pitchFamily="34" charset="0"/>
            </a:endParaRPr>
          </a:p>
        </p:txBody>
      </p:sp>
      <p:graphicFrame>
        <p:nvGraphicFramePr>
          <p:cNvPr id="1003" name="Accuracy under image corruption"/>
          <p:cNvGraphicFramePr/>
          <p:nvPr/>
        </p:nvGraphicFramePr>
        <p:xfrm>
          <a:off x="571500" y="1397000"/>
          <a:ext cx="11049000" cy="4064000"/>
        </p:xfrm>
        <a:graphic>
          <a:graphicData uri="http://schemas.openxmlformats.org/drawingml/2006/chart">
            <c:chart xmlns:c="http://schemas.openxmlformats.org/drawingml/2006/chart" r:id="rIdChart3"/>
          </a:graphicData>
        </a:graphic>
      </p:graphicFrame>
    </p:spTree>
    <p:extLst>
      <p:ext uri="{BB962C8B-B14F-4D97-AF65-F5344CB8AC3E}">
        <p14:creationId xmlns:p14="http://schemas.microsoft.com/office/powerpoint/2010/main" val="815445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222E45-512F-14EA-CC0D-2C98243BB465}"/>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Efficiency and model recommendation</a:t>
            </a:r>
          </a:p>
        </p:txBody>
      </p:sp>
      <p:sp>
        <p:nvSpPr>
          <p:cNvPr id="3" name="TextBox 2">
            <a:extLst>
              <a:ext uri="{FF2B5EF4-FFF2-40B4-BE49-F238E27FC236}">
                <a16:creationId xmlns:a16="http://schemas.microsoft.com/office/drawing/2014/main" id="{34763464-EDF6-046C-5A0F-D6D34EEB198F}"/>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11</a:t>
            </a:r>
          </a:p>
        </p:txBody>
      </p:sp>
      <p:graphicFrame>
        <p:nvGraphicFramePr>
          <p:cNvPr id="4" name="Table 3">
            <a:extLst>
              <a:ext uri="{FF2B5EF4-FFF2-40B4-BE49-F238E27FC236}">
                <a16:creationId xmlns:a16="http://schemas.microsoft.com/office/drawing/2014/main" id="{E547E8AA-9D2B-90BE-83DD-B54E8A8AA000}"/>
              </a:ext>
            </a:extLst>
          </p:cNvPr>
          <p:cNvGraphicFramePr>
            <a:graphicFrameLocks noGrp="1"/>
          </p:cNvGraphicFramePr>
          <p:nvPr>
            <p:extLst>
              <p:ext uri="{D42A27DB-BD31-4B8C-83A1-F6EECF244321}">
                <p14:modId xmlns:p14="http://schemas.microsoft.com/office/powerpoint/2010/main" val="1038354969"/>
              </p:ext>
            </p:extLst>
          </p:nvPr>
        </p:nvGraphicFramePr>
        <p:xfrm>
          <a:off x="609600" y="1435100"/>
          <a:ext cx="10972800" cy="27305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3987295584"/>
                    </a:ext>
                  </a:extLst>
                </a:gridCol>
                <a:gridCol w="2743200">
                  <a:extLst>
                    <a:ext uri="{9D8B030D-6E8A-4147-A177-3AD203B41FA5}">
                      <a16:colId xmlns:a16="http://schemas.microsoft.com/office/drawing/2014/main" val="3948894087"/>
                    </a:ext>
                  </a:extLst>
                </a:gridCol>
                <a:gridCol w="2743200">
                  <a:extLst>
                    <a:ext uri="{9D8B030D-6E8A-4147-A177-3AD203B41FA5}">
                      <a16:colId xmlns:a16="http://schemas.microsoft.com/office/drawing/2014/main" val="1552708560"/>
                    </a:ext>
                  </a:extLst>
                </a:gridCol>
              </a:tblGrid>
              <a:tr h="546100">
                <a:tc>
                  <a:txBody>
                    <a:bodyPr/>
                    <a:lstStyle/>
                    <a:p>
                      <a:r>
                        <a:rPr lang="en-ZA" sz="2100" b="1">
                          <a:solidFill>
                            <a:srgbClr val="FFFFFF"/>
                          </a:solidFill>
                          <a:latin typeface="Aptos" panose="020B0004020202020204" pitchFamily="34" charset="0"/>
                        </a:rPr>
                        <a:t>Pipeline</a:t>
                      </a:r>
                    </a:p>
                  </a:txBody>
                  <a:tcPr marL="101600" marR="63500" marT="50800" marB="38100" anchor="ctr">
                    <a:solidFill>
                      <a:srgbClr val="20364A"/>
                    </a:solidFill>
                  </a:tcPr>
                </a:tc>
                <a:tc>
                  <a:txBody>
                    <a:bodyPr/>
                    <a:lstStyle/>
                    <a:p>
                      <a:r>
                        <a:rPr lang="en-ZA" sz="2100" b="1">
                          <a:solidFill>
                            <a:srgbClr val="FFFFFF"/>
                          </a:solidFill>
                          <a:latin typeface="Aptos" panose="020B0004020202020204" pitchFamily="34" charset="0"/>
                        </a:rPr>
                        <a:t>Warm median</a:t>
                      </a:r>
                    </a:p>
                  </a:txBody>
                  <a:tcPr marL="101600" marR="63500" marT="50800" marB="38100" anchor="ctr">
                    <a:solidFill>
                      <a:srgbClr val="20364A"/>
                    </a:solidFill>
                  </a:tcPr>
                </a:tc>
                <a:tc>
                  <a:txBody>
                    <a:bodyPr/>
                    <a:lstStyle/>
                    <a:p>
                      <a:r>
                        <a:rPr lang="en-ZA" sz="2100" b="1">
                          <a:solidFill>
                            <a:srgbClr val="FFFFFF"/>
                          </a:solidFill>
                          <a:latin typeface="Aptos" panose="020B0004020202020204" pitchFamily="34" charset="0"/>
                        </a:rPr>
                        <a:t>Storage</a:t>
                      </a:r>
                    </a:p>
                  </a:txBody>
                  <a:tcPr marL="101600" marR="63500" marT="50800" marB="38100" anchor="ctr">
                    <a:solidFill>
                      <a:srgbClr val="20364A"/>
                    </a:solidFill>
                  </a:tcPr>
                </a:tc>
                <a:extLst>
                  <a:ext uri="{0D108BD9-81ED-4DB2-BD59-A6C34878D82A}">
                    <a16:rowId xmlns:a16="http://schemas.microsoft.com/office/drawing/2014/main" val="1715058002"/>
                  </a:ext>
                </a:extLst>
              </a:tr>
              <a:tr h="546100">
                <a:tc>
                  <a:txBody>
                    <a:bodyPr/>
                    <a:lstStyle/>
                    <a:p>
                      <a:r>
                        <a:rPr lang="en-ZA" sz="2100" b="0">
                          <a:solidFill>
                            <a:srgbClr val="20364A"/>
                          </a:solidFill>
                          <a:latin typeface="Aptos" panose="020B0004020202020204" pitchFamily="34" charset="0"/>
                        </a:rPr>
                        <a:t>Primary frozen fusion</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42.88 ms</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203.6 MB</a:t>
                      </a:r>
                    </a:p>
                  </a:txBody>
                  <a:tcPr marL="101600" marR="63500" marT="50800" marB="38100" anchor="ctr">
                    <a:solidFill>
                      <a:srgbClr val="EDF3F5"/>
                    </a:solidFill>
                  </a:tcPr>
                </a:tc>
                <a:extLst>
                  <a:ext uri="{0D108BD9-81ED-4DB2-BD59-A6C34878D82A}">
                    <a16:rowId xmlns:a16="http://schemas.microsoft.com/office/drawing/2014/main" val="1382259021"/>
                  </a:ext>
                </a:extLst>
              </a:tr>
              <a:tr h="546100">
                <a:tc>
                  <a:txBody>
                    <a:bodyPr/>
                    <a:lstStyle/>
                    <a:p>
                      <a:r>
                        <a:rPr lang="en-ZA" sz="2100" b="0">
                          <a:solidFill>
                            <a:srgbClr val="20364A"/>
                          </a:solidFill>
                          <a:latin typeface="Aptos" panose="020B0004020202020204" pitchFamily="34" charset="0"/>
                        </a:rPr>
                        <a:t>ConvNeXt control</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14.20 ms</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115.3 MB</a:t>
                      </a:r>
                    </a:p>
                  </a:txBody>
                  <a:tcPr marL="101600" marR="63500" marT="50800" marB="38100" anchor="ctr">
                    <a:solidFill>
                      <a:srgbClr val="FFFFFF"/>
                    </a:solidFill>
                  </a:tcPr>
                </a:tc>
                <a:extLst>
                  <a:ext uri="{0D108BD9-81ED-4DB2-BD59-A6C34878D82A}">
                    <a16:rowId xmlns:a16="http://schemas.microsoft.com/office/drawing/2014/main" val="1748331378"/>
                  </a:ext>
                </a:extLst>
              </a:tr>
              <a:tr h="546100">
                <a:tc>
                  <a:txBody>
                    <a:bodyPr/>
                    <a:lstStyle/>
                    <a:p>
                      <a:r>
                        <a:rPr lang="en-ZA" sz="2100" b="0">
                          <a:solidFill>
                            <a:srgbClr val="20364A"/>
                          </a:solidFill>
                          <a:latin typeface="Aptos" panose="020B0004020202020204" pitchFamily="34" charset="0"/>
                        </a:rPr>
                        <a:t>Fixed ResNet-50</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9.46 ms</a:t>
                      </a:r>
                    </a:p>
                  </a:txBody>
                  <a:tcPr marL="101600" marR="63500" marT="50800" marB="38100" anchor="ctr">
                    <a:solidFill>
                      <a:srgbClr val="EDF3F5"/>
                    </a:solidFill>
                  </a:tcPr>
                </a:tc>
                <a:tc>
                  <a:txBody>
                    <a:bodyPr/>
                    <a:lstStyle/>
                    <a:p>
                      <a:r>
                        <a:rPr lang="en-ZA" sz="2100" b="0">
                          <a:solidFill>
                            <a:srgbClr val="20364A"/>
                          </a:solidFill>
                          <a:latin typeface="Aptos" panose="020B0004020202020204" pitchFamily="34" charset="0"/>
                        </a:rPr>
                        <a:t>95.3 MB</a:t>
                      </a:r>
                    </a:p>
                  </a:txBody>
                  <a:tcPr marL="101600" marR="63500" marT="50800" marB="38100" anchor="ctr">
                    <a:solidFill>
                      <a:srgbClr val="EDF3F5"/>
                    </a:solidFill>
                  </a:tcPr>
                </a:tc>
                <a:extLst>
                  <a:ext uri="{0D108BD9-81ED-4DB2-BD59-A6C34878D82A}">
                    <a16:rowId xmlns:a16="http://schemas.microsoft.com/office/drawing/2014/main" val="3729673307"/>
                  </a:ext>
                </a:extLst>
              </a:tr>
              <a:tr h="546100">
                <a:tc>
                  <a:txBody>
                    <a:bodyPr/>
                    <a:lstStyle/>
                    <a:p>
                      <a:r>
                        <a:rPr lang="en-ZA" sz="2100" b="0">
                          <a:solidFill>
                            <a:srgbClr val="20364A"/>
                          </a:solidFill>
                          <a:latin typeface="Aptos" panose="020B0004020202020204" pitchFamily="34" charset="0"/>
                        </a:rPr>
                        <a:t>Fine-tuned DINOv2</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13.86 ms</a:t>
                      </a:r>
                    </a:p>
                  </a:txBody>
                  <a:tcPr marL="101600" marR="63500" marT="50800" marB="38100" anchor="ctr">
                    <a:solidFill>
                      <a:srgbClr val="FFFFFF"/>
                    </a:solidFill>
                  </a:tcPr>
                </a:tc>
                <a:tc>
                  <a:txBody>
                    <a:bodyPr/>
                    <a:lstStyle/>
                    <a:p>
                      <a:r>
                        <a:rPr lang="en-ZA" sz="2100" b="0">
                          <a:solidFill>
                            <a:srgbClr val="20364A"/>
                          </a:solidFill>
                          <a:latin typeface="Aptos" panose="020B0004020202020204" pitchFamily="34" charset="0"/>
                        </a:rPr>
                        <a:t>88.0 MB</a:t>
                      </a:r>
                    </a:p>
                  </a:txBody>
                  <a:tcPr marL="101600" marR="63500" marT="50800" marB="38100" anchor="ctr">
                    <a:solidFill>
                      <a:srgbClr val="FFFFFF"/>
                    </a:solidFill>
                  </a:tcPr>
                </a:tc>
                <a:extLst>
                  <a:ext uri="{0D108BD9-81ED-4DB2-BD59-A6C34878D82A}">
                    <a16:rowId xmlns:a16="http://schemas.microsoft.com/office/drawing/2014/main" val="3747237456"/>
                  </a:ext>
                </a:extLst>
              </a:tr>
            </a:tbl>
          </a:graphicData>
        </a:graphic>
      </p:graphicFrame>
      <p:sp>
        <p:nvSpPr>
          <p:cNvPr id="5" name="TextBox 4">
            <a:extLst>
              <a:ext uri="{FF2B5EF4-FFF2-40B4-BE49-F238E27FC236}">
                <a16:creationId xmlns:a16="http://schemas.microsoft.com/office/drawing/2014/main" id="{DCDAA0C5-2C00-A310-4D50-FC2CA90AB621}"/>
              </a:ext>
            </a:extLst>
          </p:cNvPr>
          <p:cNvSpPr txBox="1"/>
          <p:nvPr/>
        </p:nvSpPr>
        <p:spPr>
          <a:xfrm>
            <a:off x="609600" y="4381499"/>
            <a:ext cx="10972800" cy="1371600"/>
          </a:xfrm>
          <a:prstGeom prst="rect">
            <a:avLst/>
          </a:prstGeom>
          <a:noFill/>
        </p:spPr>
        <p:txBody>
          <a:bodyPr vert="horz" wrap="square" lIns="0" tIns="0" rIns="0" bIns="0" rtlCol="0">
            <a:noAutofit/>
          </a:bodyPr>
          <a:lstStyle/>
          <a:p>
            <a:pPr>
              <a:spcAft>
                <a:spcPts val="600"/>
              </a:spcAft>
            </a:pPr>
            <a:r>
              <a:rPr lang="en-US" sz="2100" b="1">
                <a:solidFill>
                  <a:srgbClr val="20364A"/>
                </a:solidFill>
                <a:latin typeface="Aptos" panose="020B0004020202020204" pitchFamily="34" charset="0"/>
              </a:rPr>
              <a:t>Provisionally recommend fine-tuned DINOv2 for classroom use
with comparable renders; retain fusion as the predeclared study primary;
independently confirm before broader deployment.</a:t>
            </a:r>
            <a:endParaRPr lang="en-ZA" sz="2100" b="1">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F740F726-5407-A4C4-820C-2AEBE0D0D021}"/>
              </a:ext>
            </a:extLst>
          </p:cNvPr>
          <p:cNvSpPr txBox="1"/>
          <p:nvPr/>
        </p:nvSpPr>
        <p:spPr>
          <a:xfrm>
            <a:off x="609600" y="5854699"/>
            <a:ext cx="10972800" cy="609600"/>
          </a:xfrm>
          <a:prstGeom prst="rect">
            <a:avLst/>
          </a:prstGeom>
          <a:noFill/>
        </p:spPr>
        <p:txBody>
          <a:bodyPr vert="horz" wrap="square" lIns="0" tIns="0" rIns="0" bIns="0" rtlCol="0">
            <a:noAutofit/>
          </a:bodyPr>
          <a:lstStyle/>
          <a:p>
            <a:pPr>
              <a:spcAft>
                <a:spcPts val="600"/>
              </a:spcAft>
            </a:pPr>
            <a:r>
              <a:rPr lang="en-ZA" sz="1700">
                <a:solidFill>
                  <a:srgbClr val="20364A"/>
                </a:solidFill>
                <a:latin typeface="Aptos" panose="020B0004020202020204" pitchFamily="34" charset="0"/>
              </a:rPr>
              <a:t>RTX 4070 Laptop GPU. Warm batch 1, predecoded RGB.
Includes preprocessing and probabilities, excludes disk I/O and decoding.</a:t>
            </a:r>
          </a:p>
        </p:txBody>
      </p:sp>
    </p:spTree>
    <p:extLst>
      <p:ext uri="{BB962C8B-B14F-4D97-AF65-F5344CB8AC3E}">
        <p14:creationId xmlns:p14="http://schemas.microsoft.com/office/powerpoint/2010/main" val="2336106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82E76-A096-9106-AC28-AE0969C973D3}"/>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Limitations and next experiment</a:t>
            </a:r>
          </a:p>
        </p:txBody>
      </p:sp>
      <p:sp>
        <p:nvSpPr>
          <p:cNvPr id="3" name="TextBox 2">
            <a:extLst>
              <a:ext uri="{FF2B5EF4-FFF2-40B4-BE49-F238E27FC236}">
                <a16:creationId xmlns:a16="http://schemas.microsoft.com/office/drawing/2014/main" id="{B235DE72-2483-4489-2292-9A463A18B97F}"/>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12</a:t>
            </a:r>
          </a:p>
        </p:txBody>
      </p:sp>
      <p:sp>
        <p:nvSpPr>
          <p:cNvPr id="4" name="TextBox 3">
            <a:extLst>
              <a:ext uri="{FF2B5EF4-FFF2-40B4-BE49-F238E27FC236}">
                <a16:creationId xmlns:a16="http://schemas.microsoft.com/office/drawing/2014/main" id="{7B0B8B83-7BEF-C9B6-8EF9-637604E7889F}"/>
              </a:ext>
            </a:extLst>
          </p:cNvPr>
          <p:cNvSpPr txBox="1"/>
          <p:nvPr/>
        </p:nvSpPr>
        <p:spPr>
          <a:xfrm>
            <a:off x="609600" y="1511299"/>
            <a:ext cx="5207000" cy="419100"/>
          </a:xfrm>
          <a:prstGeom prst="rect">
            <a:avLst/>
          </a:prstGeom>
          <a:noFill/>
        </p:spPr>
        <p:txBody>
          <a:bodyPr vert="horz" wrap="square" lIns="0" tIns="0" rIns="0" bIns="0" rtlCol="0">
            <a:noAutofit/>
          </a:bodyPr>
          <a:lstStyle/>
          <a:p>
            <a:pPr>
              <a:spcAft>
                <a:spcPts val="600"/>
              </a:spcAft>
            </a:pPr>
            <a:r>
              <a:rPr lang="en-ZA" sz="2500" b="1">
                <a:solidFill>
                  <a:srgbClr val="20364A"/>
                </a:solidFill>
                <a:latin typeface="Aptos" panose="020B0004020202020204" pitchFamily="34" charset="0"/>
              </a:rPr>
              <a:t>Few independent sources</a:t>
            </a:r>
          </a:p>
        </p:txBody>
      </p:sp>
      <p:sp>
        <p:nvSpPr>
          <p:cNvPr id="5" name="TextBox 4">
            <a:extLst>
              <a:ext uri="{FF2B5EF4-FFF2-40B4-BE49-F238E27FC236}">
                <a16:creationId xmlns:a16="http://schemas.microsoft.com/office/drawing/2014/main" id="{0DD4932A-46E6-E628-0EBD-95142F6E33A9}"/>
              </a:ext>
            </a:extLst>
          </p:cNvPr>
          <p:cNvSpPr txBox="1"/>
          <p:nvPr/>
        </p:nvSpPr>
        <p:spPr>
          <a:xfrm>
            <a:off x="609600" y="2133599"/>
            <a:ext cx="5207000" cy="1460500"/>
          </a:xfrm>
          <a:prstGeom prst="rect">
            <a:avLst/>
          </a:prstGeom>
          <a:noFill/>
        </p:spPr>
        <p:txBody>
          <a:bodyPr vert="horz" wrap="square" lIns="0" tIns="0" rIns="0" bIns="0" rtlCol="0">
            <a:noAutofit/>
          </a:bodyPr>
          <a:lstStyle/>
          <a:p>
            <a:pPr>
              <a:spcAft>
                <a:spcPts val="600"/>
              </a:spcAft>
            </a:pPr>
            <a:r>
              <a:rPr lang="en-US" sz="2200">
                <a:solidFill>
                  <a:srgbClr val="20364A"/>
                </a:solidFill>
                <a:latin typeface="Aptos" panose="020B0004020202020204" pitchFamily="34" charset="0"/>
              </a:rPr>
              <a:t>Three test groups per class
Related views share texture evidence
Unknown ancestry can remain</a:t>
            </a:r>
            <a:endParaRPr lang="en-ZA" sz="2200">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D235A97E-0A88-99FA-2F81-4AFEA860B85E}"/>
              </a:ext>
            </a:extLst>
          </p:cNvPr>
          <p:cNvSpPr txBox="1"/>
          <p:nvPr/>
        </p:nvSpPr>
        <p:spPr>
          <a:xfrm>
            <a:off x="6477000" y="1511299"/>
            <a:ext cx="5105400" cy="419100"/>
          </a:xfrm>
          <a:prstGeom prst="rect">
            <a:avLst/>
          </a:prstGeom>
          <a:noFill/>
        </p:spPr>
        <p:txBody>
          <a:bodyPr vert="horz" wrap="square" lIns="0" tIns="0" rIns="0" bIns="0" rtlCol="0">
            <a:noAutofit/>
          </a:bodyPr>
          <a:lstStyle/>
          <a:p>
            <a:pPr>
              <a:spcAft>
                <a:spcPts val="600"/>
              </a:spcAft>
            </a:pPr>
            <a:r>
              <a:rPr lang="en-ZA" sz="2500" b="1">
                <a:solidFill>
                  <a:srgbClr val="20364A"/>
                </a:solidFill>
                <a:latin typeface="Aptos" panose="020B0004020202020204" pitchFamily="34" charset="0"/>
              </a:rPr>
              <a:t>Restricted domain</a:t>
            </a:r>
          </a:p>
        </p:txBody>
      </p:sp>
      <p:sp>
        <p:nvSpPr>
          <p:cNvPr id="7" name="TextBox 6">
            <a:extLst>
              <a:ext uri="{FF2B5EF4-FFF2-40B4-BE49-F238E27FC236}">
                <a16:creationId xmlns:a16="http://schemas.microsoft.com/office/drawing/2014/main" id="{8F193D38-3208-50CF-3882-964DCE867F3C}"/>
              </a:ext>
            </a:extLst>
          </p:cNvPr>
          <p:cNvSpPr txBox="1"/>
          <p:nvPr/>
        </p:nvSpPr>
        <p:spPr>
          <a:xfrm>
            <a:off x="6477000" y="2133599"/>
            <a:ext cx="5105400" cy="1460500"/>
          </a:xfrm>
          <a:prstGeom prst="rect">
            <a:avLst/>
          </a:prstGeom>
          <a:noFill/>
        </p:spPr>
        <p:txBody>
          <a:bodyPr vert="horz" wrap="square" lIns="0" tIns="0" rIns="0" bIns="0" rtlCol="0">
            <a:noAutofit/>
          </a:bodyPr>
          <a:lstStyle/>
          <a:p>
            <a:pPr>
              <a:spcAft>
                <a:spcPts val="600"/>
              </a:spcAft>
            </a:pPr>
            <a:r>
              <a:rPr lang="en-US" sz="2200">
                <a:solidFill>
                  <a:srgbClr val="20364A"/>
                </a:solidFill>
                <a:latin typeface="Aptos" panose="020B0004020202020204" pitchFamily="34" charset="0"/>
              </a:rPr>
              <a:t>Scanned and procedural assets
Controlled Blender scenes
No real-photograph validation</a:t>
            </a:r>
            <a:endParaRPr lang="en-ZA" sz="2200">
              <a:solidFill>
                <a:srgbClr val="20364A"/>
              </a:solidFill>
              <a:latin typeface="Aptos" panose="020B0004020202020204" pitchFamily="34" charset="0"/>
            </a:endParaRPr>
          </a:p>
        </p:txBody>
      </p:sp>
      <p:sp>
        <p:nvSpPr>
          <p:cNvPr id="8" name="TextBox 7">
            <a:extLst>
              <a:ext uri="{FF2B5EF4-FFF2-40B4-BE49-F238E27FC236}">
                <a16:creationId xmlns:a16="http://schemas.microsoft.com/office/drawing/2014/main" id="{053CCC49-5520-E658-808A-C3C1EA19045D}"/>
              </a:ext>
            </a:extLst>
          </p:cNvPr>
          <p:cNvSpPr txBox="1"/>
          <p:nvPr/>
        </p:nvSpPr>
        <p:spPr>
          <a:xfrm>
            <a:off x="609600" y="4279899"/>
            <a:ext cx="10972800" cy="1308100"/>
          </a:xfrm>
          <a:prstGeom prst="rect">
            <a:avLst/>
          </a:prstGeom>
          <a:noFill/>
        </p:spPr>
        <p:txBody>
          <a:bodyPr vert="horz" wrap="square" lIns="0" tIns="0" rIns="0" bIns="0" rtlCol="0">
            <a:noAutofit/>
          </a:bodyPr>
          <a:lstStyle/>
          <a:p>
            <a:pPr>
              <a:spcAft>
                <a:spcPts val="600"/>
              </a:spcAft>
            </a:pPr>
            <a:r>
              <a:rPr lang="en-US" sz="2700" b="1">
                <a:solidFill>
                  <a:srgbClr val="20364A"/>
                </a:solidFill>
                <a:latin typeface="Aptos" panose="020B0004020202020204" pitchFamily="34" charset="0"/>
              </a:rPr>
              <a:t>Next: a fixed evaluation plan with more independent sources,
new scenes and photographs, and compression coverage.</a:t>
            </a:r>
            <a:endParaRPr lang="en-ZA" sz="2700" b="1">
              <a:solidFill>
                <a:srgbClr val="20364A"/>
              </a:solidFill>
              <a:latin typeface="Aptos" panose="020B0004020202020204" pitchFamily="34" charset="0"/>
            </a:endParaRPr>
          </a:p>
        </p:txBody>
      </p:sp>
      <p:sp>
        <p:nvSpPr>
          <p:cNvPr id="9" name="TextBox 8">
            <a:extLst>
              <a:ext uri="{FF2B5EF4-FFF2-40B4-BE49-F238E27FC236}">
                <a16:creationId xmlns:a16="http://schemas.microsoft.com/office/drawing/2014/main" id="{230B7244-FE67-EE42-6903-655A952BC8B7}"/>
              </a:ext>
            </a:extLst>
          </p:cNvPr>
          <p:cNvSpPr txBox="1"/>
          <p:nvPr/>
        </p:nvSpPr>
        <p:spPr>
          <a:xfrm>
            <a:off x="609600" y="6057899"/>
            <a:ext cx="10972800" cy="444500"/>
          </a:xfrm>
          <a:prstGeom prst="rect">
            <a:avLst/>
          </a:prstGeom>
          <a:noFill/>
        </p:spPr>
        <p:txBody>
          <a:bodyPr vert="horz" wrap="square" lIns="0" tIns="0" rIns="0" bIns="0" rtlCol="0">
            <a:noAutofit/>
          </a:bodyPr>
          <a:lstStyle/>
          <a:p>
            <a:pPr>
              <a:spcAft>
                <a:spcPts val="600"/>
              </a:spcAft>
            </a:pPr>
            <a:r>
              <a:rPr lang="en-US" sz="1900">
                <a:solidFill>
                  <a:srgbClr val="A25524"/>
                </a:solidFill>
                <a:latin typeface="Aptos" panose="020B0004020202020204" pitchFamily="34" charset="0"/>
              </a:rPr>
              <a:t>Model comparisons do not isolate architecture or equal-compute effects.</a:t>
            </a:r>
            <a:endParaRPr lang="en-ZA" sz="1900">
              <a:solidFill>
                <a:srgbClr val="A25524"/>
              </a:solidFill>
              <a:latin typeface="Aptos" panose="020B0004020202020204" pitchFamily="34" charset="0"/>
            </a:endParaRPr>
          </a:p>
        </p:txBody>
      </p:sp>
    </p:spTree>
    <p:extLst>
      <p:ext uri="{BB962C8B-B14F-4D97-AF65-F5344CB8AC3E}">
        <p14:creationId xmlns:p14="http://schemas.microsoft.com/office/powerpoint/2010/main" val="2877683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3BB3D-4D71-3E7C-3BB6-8482202BF63F}"/>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Material Studio demo and conclusion</a:t>
            </a:r>
          </a:p>
        </p:txBody>
      </p:sp>
      <p:sp>
        <p:nvSpPr>
          <p:cNvPr id="3" name="TextBox 2">
            <a:extLst>
              <a:ext uri="{FF2B5EF4-FFF2-40B4-BE49-F238E27FC236}">
                <a16:creationId xmlns:a16="http://schemas.microsoft.com/office/drawing/2014/main" id="{0644F12B-3728-264F-82E5-51DDD6E9AA82}"/>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13</a:t>
            </a:r>
          </a:p>
        </p:txBody>
      </p:sp>
      <p:sp>
        <p:nvSpPr>
          <p:cNvPr id="4" name="TextBox 3">
            <a:extLst>
              <a:ext uri="{FF2B5EF4-FFF2-40B4-BE49-F238E27FC236}">
                <a16:creationId xmlns:a16="http://schemas.microsoft.com/office/drawing/2014/main" id="{28BC7E89-BB67-B591-110E-4D454EF319CF}"/>
              </a:ext>
            </a:extLst>
          </p:cNvPr>
          <p:cNvSpPr txBox="1"/>
          <p:nvPr/>
        </p:nvSpPr>
        <p:spPr>
          <a:xfrm>
            <a:off x="609600" y="1498599"/>
            <a:ext cx="3111500" cy="457200"/>
          </a:xfrm>
          <a:prstGeom prst="rect">
            <a:avLst/>
          </a:prstGeom>
          <a:noFill/>
        </p:spPr>
        <p:txBody>
          <a:bodyPr vert="horz" wrap="square" lIns="0" tIns="0" rIns="0" bIns="0" rtlCol="0">
            <a:noAutofit/>
          </a:bodyPr>
          <a:lstStyle/>
          <a:p>
            <a:pPr>
              <a:spcAft>
                <a:spcPts val="600"/>
              </a:spcAft>
            </a:pPr>
            <a:r>
              <a:rPr lang="en-ZA" sz="2700" b="1">
                <a:solidFill>
                  <a:srgbClr val="20364A"/>
                </a:solidFill>
                <a:latin typeface="Aptos" panose="020B0004020202020204" pitchFamily="34" charset="0"/>
              </a:rPr>
              <a:t>Classify</a:t>
            </a:r>
          </a:p>
        </p:txBody>
      </p:sp>
      <p:sp>
        <p:nvSpPr>
          <p:cNvPr id="5" name="TextBox 4">
            <a:extLst>
              <a:ext uri="{FF2B5EF4-FFF2-40B4-BE49-F238E27FC236}">
                <a16:creationId xmlns:a16="http://schemas.microsoft.com/office/drawing/2014/main" id="{ED5CA8A7-C740-0A32-C956-53C83E30B68B}"/>
              </a:ext>
            </a:extLst>
          </p:cNvPr>
          <p:cNvSpPr txBox="1"/>
          <p:nvPr/>
        </p:nvSpPr>
        <p:spPr>
          <a:xfrm>
            <a:off x="609600" y="2133599"/>
            <a:ext cx="3302000" cy="1727200"/>
          </a:xfrm>
          <a:prstGeom prst="rect">
            <a:avLst/>
          </a:prstGeom>
          <a:noFill/>
        </p:spPr>
        <p:txBody>
          <a:bodyPr vert="horz" wrap="square" lIns="0" tIns="0" rIns="0" bIns="0" rtlCol="0">
            <a:noAutofit/>
          </a:bodyPr>
          <a:lstStyle/>
          <a:p>
            <a:pPr>
              <a:spcAft>
                <a:spcPts val="600"/>
              </a:spcAft>
            </a:pPr>
            <a:r>
              <a:rPr lang="en-US" sz="2200">
                <a:solidFill>
                  <a:srgbClr val="20364A"/>
                </a:solidFill>
                <a:latin typeface="Aptos" panose="020B0004020202020204" pitchFamily="34" charset="0"/>
              </a:rPr>
              <a:t>Open image / Samples
Model menu, Classify
Class and confidence
Details: probabilities</a:t>
            </a:r>
            <a:endParaRPr lang="en-ZA" sz="2200">
              <a:solidFill>
                <a:srgbClr val="20364A"/>
              </a:solidFill>
              <a:latin typeface="Aptos" panose="020B0004020202020204" pitchFamily="34" charset="0"/>
            </a:endParaRPr>
          </a:p>
        </p:txBody>
      </p:sp>
      <p:sp>
        <p:nvSpPr>
          <p:cNvPr id="6" name="TextBox 5">
            <a:extLst>
              <a:ext uri="{FF2B5EF4-FFF2-40B4-BE49-F238E27FC236}">
                <a16:creationId xmlns:a16="http://schemas.microsoft.com/office/drawing/2014/main" id="{44558F73-910F-BAEC-DFA6-5877EE364443}"/>
              </a:ext>
            </a:extLst>
          </p:cNvPr>
          <p:cNvSpPr txBox="1"/>
          <p:nvPr/>
        </p:nvSpPr>
        <p:spPr>
          <a:xfrm>
            <a:off x="4445000" y="1498599"/>
            <a:ext cx="3111500" cy="457200"/>
          </a:xfrm>
          <a:prstGeom prst="rect">
            <a:avLst/>
          </a:prstGeom>
          <a:noFill/>
        </p:spPr>
        <p:txBody>
          <a:bodyPr vert="horz" wrap="square" lIns="0" tIns="0" rIns="0" bIns="0" rtlCol="0">
            <a:noAutofit/>
          </a:bodyPr>
          <a:lstStyle/>
          <a:p>
            <a:pPr>
              <a:spcAft>
                <a:spcPts val="600"/>
              </a:spcAft>
            </a:pPr>
            <a:r>
              <a:rPr lang="en-ZA" sz="2700" b="1">
                <a:solidFill>
                  <a:srgbClr val="20364A"/>
                </a:solidFill>
                <a:latin typeface="Aptos" panose="020B0004020202020204" pitchFamily="34" charset="0"/>
              </a:rPr>
              <a:t>Study</a:t>
            </a:r>
          </a:p>
        </p:txBody>
      </p:sp>
      <p:sp>
        <p:nvSpPr>
          <p:cNvPr id="7" name="TextBox 6">
            <a:extLst>
              <a:ext uri="{FF2B5EF4-FFF2-40B4-BE49-F238E27FC236}">
                <a16:creationId xmlns:a16="http://schemas.microsoft.com/office/drawing/2014/main" id="{EAEEAE27-0C8E-A825-5188-911EFD96EDE4}"/>
              </a:ext>
            </a:extLst>
          </p:cNvPr>
          <p:cNvSpPr txBox="1"/>
          <p:nvPr/>
        </p:nvSpPr>
        <p:spPr>
          <a:xfrm>
            <a:off x="4445000" y="2133599"/>
            <a:ext cx="3302000" cy="1536700"/>
          </a:xfrm>
          <a:prstGeom prst="rect">
            <a:avLst/>
          </a:prstGeom>
          <a:noFill/>
        </p:spPr>
        <p:txBody>
          <a:bodyPr vert="horz" wrap="square" lIns="0" tIns="0" rIns="0" bIns="0" rtlCol="0">
            <a:noAutofit/>
          </a:bodyPr>
          <a:lstStyle/>
          <a:p>
            <a:pPr>
              <a:spcAft>
                <a:spcPts val="600"/>
              </a:spcAft>
            </a:pPr>
            <a:r>
              <a:rPr lang="en-US" sz="2300">
                <a:solidFill>
                  <a:srgbClr val="20364A"/>
                </a:solidFill>
                <a:latin typeface="Aptos" panose="020B0004020202020204" pitchFamily="34" charset="0"/>
              </a:rPr>
              <a:t>Stored model comparison
Confusion matrices
Class-level errors</a:t>
            </a:r>
            <a:endParaRPr lang="en-ZA" sz="2300">
              <a:solidFill>
                <a:srgbClr val="20364A"/>
              </a:solidFill>
              <a:latin typeface="Aptos" panose="020B0004020202020204" pitchFamily="34" charset="0"/>
            </a:endParaRPr>
          </a:p>
        </p:txBody>
      </p:sp>
      <p:sp>
        <p:nvSpPr>
          <p:cNvPr id="8" name="TextBox 7">
            <a:extLst>
              <a:ext uri="{FF2B5EF4-FFF2-40B4-BE49-F238E27FC236}">
                <a16:creationId xmlns:a16="http://schemas.microsoft.com/office/drawing/2014/main" id="{46CAAE6F-FA28-65F1-8BC3-967F9732F827}"/>
              </a:ext>
            </a:extLst>
          </p:cNvPr>
          <p:cNvSpPr txBox="1"/>
          <p:nvPr/>
        </p:nvSpPr>
        <p:spPr>
          <a:xfrm>
            <a:off x="8280400" y="1498599"/>
            <a:ext cx="3302000" cy="457200"/>
          </a:xfrm>
          <a:prstGeom prst="rect">
            <a:avLst/>
          </a:prstGeom>
          <a:noFill/>
        </p:spPr>
        <p:txBody>
          <a:bodyPr vert="horz" wrap="square" lIns="0" tIns="0" rIns="0" bIns="0" rtlCol="0">
            <a:noAutofit/>
          </a:bodyPr>
          <a:lstStyle/>
          <a:p>
            <a:pPr>
              <a:spcAft>
                <a:spcPts val="600"/>
              </a:spcAft>
            </a:pPr>
            <a:r>
              <a:rPr lang="en-ZA" sz="2700" b="1">
                <a:solidFill>
                  <a:srgbClr val="20364A"/>
                </a:solidFill>
                <a:latin typeface="Aptos" panose="020B0004020202020204" pitchFamily="34" charset="0"/>
              </a:rPr>
              <a:t>Samples</a:t>
            </a:r>
          </a:p>
        </p:txBody>
      </p:sp>
      <p:sp>
        <p:nvSpPr>
          <p:cNvPr id="9" name="TextBox 8">
            <a:extLst>
              <a:ext uri="{FF2B5EF4-FFF2-40B4-BE49-F238E27FC236}">
                <a16:creationId xmlns:a16="http://schemas.microsoft.com/office/drawing/2014/main" id="{B6C05DA6-5D7D-9EC5-8FC2-810F2BECCF79}"/>
              </a:ext>
            </a:extLst>
          </p:cNvPr>
          <p:cNvSpPr txBox="1"/>
          <p:nvPr/>
        </p:nvSpPr>
        <p:spPr>
          <a:xfrm>
            <a:off x="8280400" y="2133599"/>
            <a:ext cx="3302000" cy="1536700"/>
          </a:xfrm>
          <a:prstGeom prst="rect">
            <a:avLst/>
          </a:prstGeom>
          <a:noFill/>
        </p:spPr>
        <p:txBody>
          <a:bodyPr vert="horz" wrap="square" lIns="0" tIns="0" rIns="0" bIns="0" rtlCol="0">
            <a:noAutofit/>
          </a:bodyPr>
          <a:lstStyle/>
          <a:p>
            <a:pPr>
              <a:spcAft>
                <a:spcPts val="600"/>
              </a:spcAft>
            </a:pPr>
            <a:r>
              <a:rPr lang="en-US" sz="2300">
                <a:solidFill>
                  <a:srgbClr val="20364A"/>
                </a:solidFill>
                <a:latin typeface="Aptos" panose="020B0004020202020204" pitchFamily="34" charset="0"/>
              </a:rPr>
              <a:t>Browse the gallery
Inspect source variety
Explain group separation</a:t>
            </a:r>
            <a:endParaRPr lang="en-ZA" sz="2300">
              <a:solidFill>
                <a:srgbClr val="20364A"/>
              </a:solidFill>
              <a:latin typeface="Aptos" panose="020B0004020202020204" pitchFamily="34" charset="0"/>
            </a:endParaRPr>
          </a:p>
        </p:txBody>
      </p:sp>
      <p:sp>
        <p:nvSpPr>
          <p:cNvPr id="10" name="TextBox 9">
            <a:extLst>
              <a:ext uri="{FF2B5EF4-FFF2-40B4-BE49-F238E27FC236}">
                <a16:creationId xmlns:a16="http://schemas.microsoft.com/office/drawing/2014/main" id="{D22529C5-F0CF-36FB-0416-CEF2647AD24A}"/>
              </a:ext>
            </a:extLst>
          </p:cNvPr>
          <p:cNvSpPr txBox="1"/>
          <p:nvPr/>
        </p:nvSpPr>
        <p:spPr>
          <a:xfrm>
            <a:off x="609600" y="4305299"/>
            <a:ext cx="10972800" cy="1117600"/>
          </a:xfrm>
          <a:prstGeom prst="rect">
            <a:avLst/>
          </a:prstGeom>
          <a:noFill/>
        </p:spPr>
        <p:txBody>
          <a:bodyPr vert="horz" wrap="square" lIns="0" tIns="0" rIns="0" bIns="0" rtlCol="0">
            <a:noAutofit/>
          </a:bodyPr>
          <a:lstStyle/>
          <a:p>
            <a:pPr>
              <a:spcAft>
                <a:spcPts val="600"/>
              </a:spcAft>
            </a:pPr>
            <a:r>
              <a:rPr lang="en-US" sz="2900" b="1">
                <a:solidFill>
                  <a:srgbClr val="20364A"/>
                </a:solidFill>
                <a:latin typeface="Aptos" panose="020B0004020202020204" pitchFamily="34" charset="0"/>
              </a:rPr>
              <a:t>The primary meets the clean point target.
Wide uncertainty and JPEG weakness limit the claim.</a:t>
            </a:r>
            <a:endParaRPr lang="en-ZA" sz="2900" b="1">
              <a:solidFill>
                <a:srgbClr val="20364A"/>
              </a:solidFill>
              <a:latin typeface="Aptos" panose="020B0004020202020204" pitchFamily="34" charset="0"/>
            </a:endParaRPr>
          </a:p>
        </p:txBody>
      </p:sp>
      <p:sp>
        <p:nvSpPr>
          <p:cNvPr id="11" name="TextBox 10">
            <a:extLst>
              <a:ext uri="{FF2B5EF4-FFF2-40B4-BE49-F238E27FC236}">
                <a16:creationId xmlns:a16="http://schemas.microsoft.com/office/drawing/2014/main" id="{1CA8F5A7-AA04-5FDA-FD8D-16ED7C1197D7}"/>
              </a:ext>
            </a:extLst>
          </p:cNvPr>
          <p:cNvSpPr txBox="1"/>
          <p:nvPr/>
        </p:nvSpPr>
        <p:spPr>
          <a:xfrm>
            <a:off x="609600" y="5981699"/>
            <a:ext cx="10972800" cy="457200"/>
          </a:xfrm>
          <a:prstGeom prst="rect">
            <a:avLst/>
          </a:prstGeom>
          <a:noFill/>
        </p:spPr>
        <p:txBody>
          <a:bodyPr vert="horz" wrap="square" lIns="0" tIns="0" rIns="0" bIns="0" rtlCol="0">
            <a:noAutofit/>
          </a:bodyPr>
          <a:lstStyle/>
          <a:p>
            <a:pPr>
              <a:spcAft>
                <a:spcPts val="600"/>
              </a:spcAft>
            </a:pPr>
            <a:r>
              <a:rPr lang="en-US" sz="2000">
                <a:solidFill>
                  <a:srgbClr val="A25524"/>
                </a:solidFill>
                <a:latin typeface="Aptos" panose="020B0004020202020204" pitchFamily="34" charset="0"/>
              </a:rPr>
              <a:t>Offline fallback: show stored results, clearly labelled as stored.</a:t>
            </a:r>
            <a:endParaRPr lang="en-ZA" sz="2000">
              <a:solidFill>
                <a:srgbClr val="A25524"/>
              </a:solidFill>
              <a:latin typeface="Aptos" panose="020B0004020202020204" pitchFamily="34" charset="0"/>
            </a:endParaRPr>
          </a:p>
        </p:txBody>
      </p:sp>
    </p:spTree>
    <p:extLst>
      <p:ext uri="{BB962C8B-B14F-4D97-AF65-F5344CB8AC3E}">
        <p14:creationId xmlns:p14="http://schemas.microsoft.com/office/powerpoint/2010/main" val="4203851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B43B98-4625-51DE-FE79-D9E5148E8751}"/>
              </a:ext>
            </a:extLst>
          </p:cNvPr>
          <p:cNvSpPr txBox="1"/>
          <p:nvPr/>
        </p:nvSpPr>
        <p:spPr>
          <a:xfrm>
            <a:off x="609600" y="444499"/>
            <a:ext cx="11049000" cy="787400"/>
          </a:xfrm>
          <a:prstGeom prst="rect">
            <a:avLst/>
          </a:prstGeom>
          <a:noFill/>
        </p:spPr>
        <p:txBody>
          <a:bodyPr vert="horz" wrap="square" lIns="0" tIns="0" rIns="0" bIns="0" rtlCol="0">
            <a:noAutofit/>
          </a:bodyPr>
          <a:lstStyle/>
          <a:p>
            <a:pPr>
              <a:spcAft>
                <a:spcPts val="600"/>
              </a:spcAft>
            </a:pPr>
            <a:r>
              <a:rPr lang="en-ZA" sz="3200" b="1">
                <a:solidFill>
                  <a:srgbClr val="142C40"/>
                </a:solidFill>
                <a:latin typeface="Aptos" panose="020B0004020202020204" pitchFamily="34" charset="0"/>
              </a:rPr>
              <a:t>Sources</a:t>
            </a:r>
          </a:p>
        </p:txBody>
      </p:sp>
      <p:sp>
        <p:nvSpPr>
          <p:cNvPr id="3" name="TextBox 2">
            <a:extLst>
              <a:ext uri="{FF2B5EF4-FFF2-40B4-BE49-F238E27FC236}">
                <a16:creationId xmlns:a16="http://schemas.microsoft.com/office/drawing/2014/main" id="{E06A3750-E855-63FD-D95E-ECA6AF50A557}"/>
              </a:ext>
            </a:extLst>
          </p:cNvPr>
          <p:cNvSpPr txBox="1"/>
          <p:nvPr/>
        </p:nvSpPr>
        <p:spPr>
          <a:xfrm>
            <a:off x="11430000" y="6604000"/>
            <a:ext cx="304800" cy="190500"/>
          </a:xfrm>
          <a:prstGeom prst="rect">
            <a:avLst/>
          </a:prstGeom>
          <a:noFill/>
        </p:spPr>
        <p:txBody>
          <a:bodyPr vert="horz" wrap="square" lIns="0" tIns="0" rIns="0" bIns="0" rtlCol="0">
            <a:noAutofit/>
          </a:bodyPr>
          <a:lstStyle/>
          <a:p>
            <a:pPr>
              <a:spcAft>
                <a:spcPts val="600"/>
              </a:spcAft>
            </a:pPr>
            <a:r>
              <a:rPr lang="en-ZA" sz="1000">
                <a:solidFill>
                  <a:srgbClr val="607383"/>
                </a:solidFill>
                <a:latin typeface="Aptos" panose="020B0004020202020204" pitchFamily="34" charset="0"/>
              </a:rPr>
              <a:t>14</a:t>
            </a:r>
          </a:p>
        </p:txBody>
      </p:sp>
      <p:sp>
        <p:nvSpPr>
          <p:cNvPr id="4" name="TextBox 3">
            <a:extLst>
              <a:ext uri="{FF2B5EF4-FFF2-40B4-BE49-F238E27FC236}">
                <a16:creationId xmlns:a16="http://schemas.microsoft.com/office/drawing/2014/main" id="{6D0FB815-738E-0B88-C9D8-3BD29DD631EF}"/>
              </a:ext>
            </a:extLst>
          </p:cNvPr>
          <p:cNvSpPr txBox="1"/>
          <p:nvPr/>
        </p:nvSpPr>
        <p:spPr>
          <a:xfrm>
            <a:off x="609600" y="1422399"/>
            <a:ext cx="10985500" cy="317500"/>
          </a:xfrm>
          <a:prstGeom prst="rect">
            <a:avLst/>
          </a:prstGeom>
          <a:noFill/>
        </p:spPr>
        <p:txBody>
          <a:bodyPr vert="horz" wrap="square" lIns="0" tIns="0" rIns="0" bIns="0" rtlCol="0">
            <a:noAutofit/>
          </a:bodyPr>
          <a:lstStyle/>
          <a:p>
            <a:pPr>
              <a:spcAft>
                <a:spcPts val="600"/>
              </a:spcAft>
            </a:pPr>
            <a:r>
              <a:rPr lang="da-DK" b="1">
                <a:solidFill>
                  <a:srgbClr val="20364A"/>
                </a:solidFill>
                <a:latin typeface="Aptos" panose="020B0004020202020204" pitchFamily="34" charset="0"/>
              </a:rPr>
              <a:t>Oquab et al. (2024), DINOv2</a:t>
            </a:r>
            <a:endParaRPr lang="en-ZA" b="1">
              <a:solidFill>
                <a:srgbClr val="20364A"/>
              </a:solidFill>
              <a:latin typeface="Aptos" panose="020B0004020202020204" pitchFamily="34" charset="0"/>
            </a:endParaRPr>
          </a:p>
        </p:txBody>
      </p:sp>
      <p:sp>
        <p:nvSpPr>
          <p:cNvPr id="5" name="TextBox 4">
            <a:extLst>
              <a:ext uri="{FF2B5EF4-FFF2-40B4-BE49-F238E27FC236}">
                <a16:creationId xmlns:a16="http://schemas.microsoft.com/office/drawing/2014/main" id="{F964C4C8-70C8-C1A2-2326-3CF710E4213B}"/>
              </a:ext>
            </a:extLst>
          </p:cNvPr>
          <p:cNvSpPr txBox="1"/>
          <p:nvPr/>
        </p:nvSpPr>
        <p:spPr>
          <a:xfrm>
            <a:off x="609600" y="1739899"/>
            <a:ext cx="10985500" cy="279400"/>
          </a:xfrm>
          <a:prstGeom prst="rect">
            <a:avLst/>
          </a:prstGeom>
          <a:noFill/>
        </p:spPr>
        <p:txBody>
          <a:bodyPr vert="horz" wrap="square" lIns="0" tIns="0" rIns="0" bIns="0" rtlCol="0">
            <a:noAutofit/>
          </a:bodyPr>
          <a:lstStyle/>
          <a:p>
            <a:pPr>
              <a:spcAft>
                <a:spcPts val="600"/>
              </a:spcAft>
            </a:pPr>
            <a:r>
              <a:rPr lang="en-ZA" sz="1500">
                <a:solidFill>
                  <a:srgbClr val="137F82"/>
                </a:solidFill>
                <a:latin typeface="Aptos" panose="020B0004020202020204" pitchFamily="34" charset="0"/>
              </a:rPr>
              <a:t>arxiv.org/abs/2304.07193</a:t>
            </a:r>
          </a:p>
        </p:txBody>
      </p:sp>
      <p:sp>
        <p:nvSpPr>
          <p:cNvPr id="6" name="TextBox 5">
            <a:extLst>
              <a:ext uri="{FF2B5EF4-FFF2-40B4-BE49-F238E27FC236}">
                <a16:creationId xmlns:a16="http://schemas.microsoft.com/office/drawing/2014/main" id="{5935BF7A-1845-31E2-7F81-B84BE124F6D4}"/>
              </a:ext>
            </a:extLst>
          </p:cNvPr>
          <p:cNvSpPr txBox="1"/>
          <p:nvPr/>
        </p:nvSpPr>
        <p:spPr>
          <a:xfrm>
            <a:off x="609600" y="2108199"/>
            <a:ext cx="10985500" cy="317500"/>
          </a:xfrm>
          <a:prstGeom prst="rect">
            <a:avLst/>
          </a:prstGeom>
          <a:noFill/>
        </p:spPr>
        <p:txBody>
          <a:bodyPr vert="horz" wrap="square" lIns="0" tIns="0" rIns="0" bIns="0" rtlCol="0">
            <a:noAutofit/>
          </a:bodyPr>
          <a:lstStyle/>
          <a:p>
            <a:pPr>
              <a:spcAft>
                <a:spcPts val="600"/>
              </a:spcAft>
            </a:pPr>
            <a:r>
              <a:rPr lang="en-ZA" b="1">
                <a:solidFill>
                  <a:srgbClr val="20364A"/>
                </a:solidFill>
                <a:latin typeface="Aptos" panose="020B0004020202020204" pitchFamily="34" charset="0"/>
              </a:rPr>
              <a:t>Darcet et al. (2024), Vision Transformers Need Registers</a:t>
            </a:r>
          </a:p>
        </p:txBody>
      </p:sp>
      <p:sp>
        <p:nvSpPr>
          <p:cNvPr id="7" name="TextBox 6">
            <a:extLst>
              <a:ext uri="{FF2B5EF4-FFF2-40B4-BE49-F238E27FC236}">
                <a16:creationId xmlns:a16="http://schemas.microsoft.com/office/drawing/2014/main" id="{4DD5BB16-0E57-6CC9-4A5A-58079906762E}"/>
              </a:ext>
            </a:extLst>
          </p:cNvPr>
          <p:cNvSpPr txBox="1"/>
          <p:nvPr/>
        </p:nvSpPr>
        <p:spPr>
          <a:xfrm>
            <a:off x="609600" y="2425699"/>
            <a:ext cx="10985500" cy="279400"/>
          </a:xfrm>
          <a:prstGeom prst="rect">
            <a:avLst/>
          </a:prstGeom>
          <a:noFill/>
        </p:spPr>
        <p:txBody>
          <a:bodyPr vert="horz" wrap="square" lIns="0" tIns="0" rIns="0" bIns="0" rtlCol="0">
            <a:noAutofit/>
          </a:bodyPr>
          <a:lstStyle/>
          <a:p>
            <a:pPr>
              <a:spcAft>
                <a:spcPts val="600"/>
              </a:spcAft>
            </a:pPr>
            <a:r>
              <a:rPr lang="en-ZA" sz="1500">
                <a:solidFill>
                  <a:srgbClr val="137F82"/>
                </a:solidFill>
                <a:latin typeface="Aptos" panose="020B0004020202020204" pitchFamily="34" charset="0"/>
              </a:rPr>
              <a:t>arxiv.org/abs/2309.16588</a:t>
            </a:r>
          </a:p>
        </p:txBody>
      </p:sp>
      <p:sp>
        <p:nvSpPr>
          <p:cNvPr id="8" name="TextBox 7">
            <a:extLst>
              <a:ext uri="{FF2B5EF4-FFF2-40B4-BE49-F238E27FC236}">
                <a16:creationId xmlns:a16="http://schemas.microsoft.com/office/drawing/2014/main" id="{B133B113-452B-BFE2-BAB5-5EDE301AB479}"/>
              </a:ext>
            </a:extLst>
          </p:cNvPr>
          <p:cNvSpPr txBox="1"/>
          <p:nvPr/>
        </p:nvSpPr>
        <p:spPr>
          <a:xfrm>
            <a:off x="609600" y="2793999"/>
            <a:ext cx="10985500" cy="317500"/>
          </a:xfrm>
          <a:prstGeom prst="rect">
            <a:avLst/>
          </a:prstGeom>
          <a:noFill/>
        </p:spPr>
        <p:txBody>
          <a:bodyPr vert="horz" wrap="square" lIns="0" tIns="0" rIns="0" bIns="0" rtlCol="0">
            <a:noAutofit/>
          </a:bodyPr>
          <a:lstStyle/>
          <a:p>
            <a:pPr>
              <a:spcAft>
                <a:spcPts val="600"/>
              </a:spcAft>
            </a:pPr>
            <a:r>
              <a:rPr lang="en-US" b="1">
                <a:solidFill>
                  <a:srgbClr val="20364A"/>
                </a:solidFill>
                <a:latin typeface="Aptos" panose="020B0004020202020204" pitchFamily="34" charset="0"/>
              </a:rPr>
              <a:t>Liu et al. (2022), A ConvNet for the 2020s</a:t>
            </a:r>
            <a:endParaRPr lang="en-ZA" b="1">
              <a:solidFill>
                <a:srgbClr val="20364A"/>
              </a:solidFill>
              <a:latin typeface="Aptos" panose="020B0004020202020204" pitchFamily="34" charset="0"/>
            </a:endParaRPr>
          </a:p>
        </p:txBody>
      </p:sp>
      <p:sp>
        <p:nvSpPr>
          <p:cNvPr id="9" name="TextBox 8">
            <a:extLst>
              <a:ext uri="{FF2B5EF4-FFF2-40B4-BE49-F238E27FC236}">
                <a16:creationId xmlns:a16="http://schemas.microsoft.com/office/drawing/2014/main" id="{C80EE310-BDB3-FBA9-CF26-CC541916897A}"/>
              </a:ext>
            </a:extLst>
          </p:cNvPr>
          <p:cNvSpPr txBox="1"/>
          <p:nvPr/>
        </p:nvSpPr>
        <p:spPr>
          <a:xfrm>
            <a:off x="609600" y="3111499"/>
            <a:ext cx="10985500" cy="279400"/>
          </a:xfrm>
          <a:prstGeom prst="rect">
            <a:avLst/>
          </a:prstGeom>
          <a:noFill/>
        </p:spPr>
        <p:txBody>
          <a:bodyPr vert="horz" wrap="square" lIns="0" tIns="0" rIns="0" bIns="0" rtlCol="0">
            <a:noAutofit/>
          </a:bodyPr>
          <a:lstStyle/>
          <a:p>
            <a:pPr>
              <a:spcAft>
                <a:spcPts val="600"/>
              </a:spcAft>
            </a:pPr>
            <a:r>
              <a:rPr lang="en-ZA" sz="1500">
                <a:solidFill>
                  <a:srgbClr val="137F82"/>
                </a:solidFill>
                <a:latin typeface="Aptos" panose="020B0004020202020204" pitchFamily="34" charset="0"/>
              </a:rPr>
              <a:t>arxiv.org/abs/2201.03545</a:t>
            </a:r>
          </a:p>
        </p:txBody>
      </p:sp>
      <p:sp>
        <p:nvSpPr>
          <p:cNvPr id="10" name="TextBox 9">
            <a:extLst>
              <a:ext uri="{FF2B5EF4-FFF2-40B4-BE49-F238E27FC236}">
                <a16:creationId xmlns:a16="http://schemas.microsoft.com/office/drawing/2014/main" id="{4B04CE68-4768-E918-9F7B-92278523B896}"/>
              </a:ext>
            </a:extLst>
          </p:cNvPr>
          <p:cNvSpPr txBox="1"/>
          <p:nvPr/>
        </p:nvSpPr>
        <p:spPr>
          <a:xfrm>
            <a:off x="609600" y="3479799"/>
            <a:ext cx="10985500" cy="317500"/>
          </a:xfrm>
          <a:prstGeom prst="rect">
            <a:avLst/>
          </a:prstGeom>
          <a:noFill/>
        </p:spPr>
        <p:txBody>
          <a:bodyPr vert="horz" wrap="square" lIns="0" tIns="0" rIns="0" bIns="0" rtlCol="0">
            <a:noAutofit/>
          </a:bodyPr>
          <a:lstStyle/>
          <a:p>
            <a:pPr>
              <a:spcAft>
                <a:spcPts val="600"/>
              </a:spcAft>
            </a:pPr>
            <a:r>
              <a:rPr lang="en-US" b="1">
                <a:solidFill>
                  <a:srgbClr val="20364A"/>
                </a:solidFill>
                <a:latin typeface="Aptos" panose="020B0004020202020204" pitchFamily="34" charset="0"/>
              </a:rPr>
              <a:t>He et al. (2016), Deep Residual Learning</a:t>
            </a:r>
            <a:endParaRPr lang="en-ZA" b="1">
              <a:solidFill>
                <a:srgbClr val="20364A"/>
              </a:solidFill>
              <a:latin typeface="Aptos" panose="020B0004020202020204" pitchFamily="34" charset="0"/>
            </a:endParaRPr>
          </a:p>
        </p:txBody>
      </p:sp>
      <p:sp>
        <p:nvSpPr>
          <p:cNvPr id="11" name="TextBox 10">
            <a:extLst>
              <a:ext uri="{FF2B5EF4-FFF2-40B4-BE49-F238E27FC236}">
                <a16:creationId xmlns:a16="http://schemas.microsoft.com/office/drawing/2014/main" id="{41B61CA5-0DB2-5B09-59A0-B4CFB31F25C5}"/>
              </a:ext>
            </a:extLst>
          </p:cNvPr>
          <p:cNvSpPr txBox="1"/>
          <p:nvPr/>
        </p:nvSpPr>
        <p:spPr>
          <a:xfrm>
            <a:off x="609600" y="3797299"/>
            <a:ext cx="10985500" cy="279400"/>
          </a:xfrm>
          <a:prstGeom prst="rect">
            <a:avLst/>
          </a:prstGeom>
          <a:noFill/>
        </p:spPr>
        <p:txBody>
          <a:bodyPr vert="horz" wrap="square" lIns="0" tIns="0" rIns="0" bIns="0" rtlCol="0">
            <a:noAutofit/>
          </a:bodyPr>
          <a:lstStyle/>
          <a:p>
            <a:pPr>
              <a:spcAft>
                <a:spcPts val="600"/>
              </a:spcAft>
            </a:pPr>
            <a:r>
              <a:rPr lang="en-ZA" sz="1500">
                <a:solidFill>
                  <a:srgbClr val="137F82"/>
                </a:solidFill>
                <a:latin typeface="Aptos" panose="020B0004020202020204" pitchFamily="34" charset="0"/>
              </a:rPr>
              <a:t>arxiv.org/abs/1512.03385</a:t>
            </a:r>
          </a:p>
        </p:txBody>
      </p:sp>
      <p:sp>
        <p:nvSpPr>
          <p:cNvPr id="12" name="TextBox 11">
            <a:extLst>
              <a:ext uri="{FF2B5EF4-FFF2-40B4-BE49-F238E27FC236}">
                <a16:creationId xmlns:a16="http://schemas.microsoft.com/office/drawing/2014/main" id="{7A5524D7-3349-6BB7-B94F-B4DBB1681527}"/>
              </a:ext>
            </a:extLst>
          </p:cNvPr>
          <p:cNvSpPr txBox="1"/>
          <p:nvPr/>
        </p:nvSpPr>
        <p:spPr>
          <a:xfrm>
            <a:off x="609600" y="4165599"/>
            <a:ext cx="10985500" cy="317500"/>
          </a:xfrm>
          <a:prstGeom prst="rect">
            <a:avLst/>
          </a:prstGeom>
          <a:noFill/>
        </p:spPr>
        <p:txBody>
          <a:bodyPr vert="horz" wrap="square" lIns="0" tIns="0" rIns="0" bIns="0" rtlCol="0">
            <a:noAutofit/>
          </a:bodyPr>
          <a:lstStyle/>
          <a:p>
            <a:pPr>
              <a:spcAft>
                <a:spcPts val="600"/>
              </a:spcAft>
            </a:pPr>
            <a:r>
              <a:rPr lang="en-US" b="1">
                <a:solidFill>
                  <a:srgbClr val="20364A"/>
                </a:solidFill>
                <a:latin typeface="Aptos" panose="020B0004020202020204" pitchFamily="34" charset="0"/>
              </a:rPr>
              <a:t>Cawley &amp; Talbot (2010), Model selection bias</a:t>
            </a:r>
            <a:endParaRPr lang="en-ZA" b="1">
              <a:solidFill>
                <a:srgbClr val="20364A"/>
              </a:solidFill>
              <a:latin typeface="Aptos" panose="020B0004020202020204" pitchFamily="34" charset="0"/>
            </a:endParaRPr>
          </a:p>
        </p:txBody>
      </p:sp>
      <p:sp>
        <p:nvSpPr>
          <p:cNvPr id="13" name="TextBox 12">
            <a:extLst>
              <a:ext uri="{FF2B5EF4-FFF2-40B4-BE49-F238E27FC236}">
                <a16:creationId xmlns:a16="http://schemas.microsoft.com/office/drawing/2014/main" id="{B1F0E6FD-F63F-E44A-57C7-26FA0F43722A}"/>
              </a:ext>
            </a:extLst>
          </p:cNvPr>
          <p:cNvSpPr txBox="1"/>
          <p:nvPr/>
        </p:nvSpPr>
        <p:spPr>
          <a:xfrm>
            <a:off x="609600" y="4483099"/>
            <a:ext cx="10985500" cy="279400"/>
          </a:xfrm>
          <a:prstGeom prst="rect">
            <a:avLst/>
          </a:prstGeom>
          <a:noFill/>
        </p:spPr>
        <p:txBody>
          <a:bodyPr vert="horz" wrap="square" lIns="0" tIns="0" rIns="0" bIns="0" rtlCol="0">
            <a:noAutofit/>
          </a:bodyPr>
          <a:lstStyle/>
          <a:p>
            <a:pPr>
              <a:spcAft>
                <a:spcPts val="600"/>
              </a:spcAft>
            </a:pPr>
            <a:r>
              <a:rPr lang="en-US" sz="1500">
                <a:solidFill>
                  <a:srgbClr val="137F82"/>
                </a:solidFill>
                <a:latin typeface="Aptos" panose="020B0004020202020204" pitchFamily="34" charset="0"/>
              </a:rPr>
              <a:t>jmlr.org/papers/v11/cawley10a.html</a:t>
            </a:r>
            <a:endParaRPr lang="en-ZA" sz="1500">
              <a:solidFill>
                <a:srgbClr val="137F82"/>
              </a:solidFill>
              <a:latin typeface="Aptos" panose="020B0004020202020204" pitchFamily="34" charset="0"/>
            </a:endParaRPr>
          </a:p>
        </p:txBody>
      </p:sp>
      <p:sp>
        <p:nvSpPr>
          <p:cNvPr id="14" name="TextBox 13">
            <a:extLst>
              <a:ext uri="{FF2B5EF4-FFF2-40B4-BE49-F238E27FC236}">
                <a16:creationId xmlns:a16="http://schemas.microsoft.com/office/drawing/2014/main" id="{8B3D24E5-3654-B492-B0E5-C174EC36D71C}"/>
              </a:ext>
            </a:extLst>
          </p:cNvPr>
          <p:cNvSpPr txBox="1"/>
          <p:nvPr/>
        </p:nvSpPr>
        <p:spPr>
          <a:xfrm>
            <a:off x="609600" y="4851399"/>
            <a:ext cx="10985500" cy="317500"/>
          </a:xfrm>
          <a:prstGeom prst="rect">
            <a:avLst/>
          </a:prstGeom>
          <a:noFill/>
        </p:spPr>
        <p:txBody>
          <a:bodyPr vert="horz" wrap="square" lIns="0" tIns="0" rIns="0" bIns="0" rtlCol="0">
            <a:noAutofit/>
          </a:bodyPr>
          <a:lstStyle/>
          <a:p>
            <a:pPr>
              <a:spcAft>
                <a:spcPts val="600"/>
              </a:spcAft>
            </a:pPr>
            <a:r>
              <a:rPr lang="en-US" b="1">
                <a:solidFill>
                  <a:srgbClr val="20364A"/>
                </a:solidFill>
                <a:latin typeface="Aptos" panose="020B0004020202020204" pitchFamily="34" charset="0"/>
              </a:rPr>
              <a:t>Poly Haven and ambientCG, CC0 asset licences</a:t>
            </a:r>
            <a:endParaRPr lang="en-ZA" b="1">
              <a:solidFill>
                <a:srgbClr val="20364A"/>
              </a:solidFill>
              <a:latin typeface="Aptos" panose="020B0004020202020204" pitchFamily="34" charset="0"/>
            </a:endParaRPr>
          </a:p>
        </p:txBody>
      </p:sp>
      <p:sp>
        <p:nvSpPr>
          <p:cNvPr id="15" name="TextBox 14">
            <a:extLst>
              <a:ext uri="{FF2B5EF4-FFF2-40B4-BE49-F238E27FC236}">
                <a16:creationId xmlns:a16="http://schemas.microsoft.com/office/drawing/2014/main" id="{9894540C-60A3-12B8-2852-248486B80C4F}"/>
              </a:ext>
            </a:extLst>
          </p:cNvPr>
          <p:cNvSpPr txBox="1"/>
          <p:nvPr/>
        </p:nvSpPr>
        <p:spPr>
          <a:xfrm>
            <a:off x="609600" y="5168899"/>
            <a:ext cx="10985500" cy="279400"/>
          </a:xfrm>
          <a:prstGeom prst="rect">
            <a:avLst/>
          </a:prstGeom>
          <a:noFill/>
        </p:spPr>
        <p:txBody>
          <a:bodyPr vert="horz" wrap="square" lIns="0" tIns="0" rIns="0" bIns="0" rtlCol="0">
            <a:noAutofit/>
          </a:bodyPr>
          <a:lstStyle/>
          <a:p>
            <a:pPr>
              <a:spcAft>
                <a:spcPts val="600"/>
              </a:spcAft>
            </a:pPr>
            <a:r>
              <a:rPr lang="pt-BR" sz="1500">
                <a:solidFill>
                  <a:srgbClr val="137F82"/>
                </a:solidFill>
                <a:latin typeface="Aptos" panose="020B0004020202020204" pitchFamily="34" charset="0"/>
              </a:rPr>
              <a:t>polyhaven.com/license    docs.ambientcg.com/license/</a:t>
            </a:r>
            <a:endParaRPr lang="en-ZA" sz="1500">
              <a:solidFill>
                <a:srgbClr val="137F82"/>
              </a:solidFill>
              <a:latin typeface="Aptos" panose="020B0004020202020204" pitchFamily="34" charset="0"/>
            </a:endParaRPr>
          </a:p>
        </p:txBody>
      </p:sp>
      <p:sp>
        <p:nvSpPr>
          <p:cNvPr id="16" name="TextBox 15">
            <a:extLst>
              <a:ext uri="{FF2B5EF4-FFF2-40B4-BE49-F238E27FC236}">
                <a16:creationId xmlns:a16="http://schemas.microsoft.com/office/drawing/2014/main" id="{D377FFD7-5AD5-185B-AD23-0031378CE589}"/>
              </a:ext>
            </a:extLst>
          </p:cNvPr>
          <p:cNvSpPr txBox="1"/>
          <p:nvPr/>
        </p:nvSpPr>
        <p:spPr>
          <a:xfrm>
            <a:off x="609600" y="5816599"/>
            <a:ext cx="10972800" cy="698500"/>
          </a:xfrm>
          <a:prstGeom prst="rect">
            <a:avLst/>
          </a:prstGeom>
          <a:noFill/>
        </p:spPr>
        <p:txBody>
          <a:bodyPr vert="horz" wrap="square" lIns="0" tIns="0" rIns="0" bIns="0" rtlCol="0">
            <a:noAutofit/>
          </a:bodyPr>
          <a:lstStyle/>
          <a:p>
            <a:pPr>
              <a:spcAft>
                <a:spcPts val="600"/>
              </a:spcAft>
            </a:pPr>
            <a:r>
              <a:rPr lang="en-US">
                <a:solidFill>
                  <a:srgbClr val="20364A"/>
                </a:solidFill>
                <a:latin typeface="Aptos" panose="020B0004020202020204" pitchFamily="34" charset="0"/>
              </a:rPr>
              <a:t>Study evidence: saved evaluations, predictions, training histories and source audits.
Exact local sources are cited in slide notes and the speaking guide.</a:t>
            </a:r>
            <a:endParaRPr lang="en-ZA">
              <a:solidFill>
                <a:srgbClr val="20364A"/>
              </a:solidFill>
              <a:latin typeface="Aptos" panose="020B0004020202020204" pitchFamily="34" charset="0"/>
            </a:endParaRPr>
          </a:p>
        </p:txBody>
      </p:sp>
    </p:spTree>
    <p:extLst>
      <p:ext uri="{BB962C8B-B14F-4D97-AF65-F5344CB8AC3E}">
        <p14:creationId xmlns:p14="http://schemas.microsoft.com/office/powerpoint/2010/main" val="3500400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3311</Words>
  <Application>Microsoft Office PowerPoint</Application>
  <PresentationFormat>Custom</PresentationFormat>
  <Paragraphs>295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2026-10-27T11:48:31Z</dcterms:created>
  <dcterms:modified xsi:type="dcterms:W3CDTF">2026-10-27T11:48:31Z</dcterms:modified>
</cp:coreProperties>
</file>